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43891200" cy="32918400"/>
  <p:notesSz cx="6715125" cy="9239250"/>
  <p:defaultTextStyle>
    <a:defPPr>
      <a:defRPr lang="en-US"/>
    </a:defPPr>
    <a:lvl1pPr algn="l" rtl="0" eaLnBrk="0" fontAlgn="base" hangingPunct="0">
      <a:spcBef>
        <a:spcPct val="0"/>
      </a:spcBef>
      <a:spcAft>
        <a:spcPct val="0"/>
      </a:spcAft>
      <a:defRPr sz="86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86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86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86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8600" kern="1200">
        <a:solidFill>
          <a:schemeClr val="tx1"/>
        </a:solidFill>
        <a:latin typeface="Arial" panose="020B0604020202020204" pitchFamily="34" charset="0"/>
        <a:ea typeface="+mn-ea"/>
        <a:cs typeface="+mn-cs"/>
      </a:defRPr>
    </a:lvl5pPr>
    <a:lvl6pPr marL="2286000" algn="l" defTabSz="914400" rtl="0" eaLnBrk="1" latinLnBrk="0" hangingPunct="1">
      <a:defRPr sz="8600" kern="1200">
        <a:solidFill>
          <a:schemeClr val="tx1"/>
        </a:solidFill>
        <a:latin typeface="Arial" panose="020B0604020202020204" pitchFamily="34" charset="0"/>
        <a:ea typeface="+mn-ea"/>
        <a:cs typeface="+mn-cs"/>
      </a:defRPr>
    </a:lvl6pPr>
    <a:lvl7pPr marL="2743200" algn="l" defTabSz="914400" rtl="0" eaLnBrk="1" latinLnBrk="0" hangingPunct="1">
      <a:defRPr sz="8600" kern="1200">
        <a:solidFill>
          <a:schemeClr val="tx1"/>
        </a:solidFill>
        <a:latin typeface="Arial" panose="020B0604020202020204" pitchFamily="34" charset="0"/>
        <a:ea typeface="+mn-ea"/>
        <a:cs typeface="+mn-cs"/>
      </a:defRPr>
    </a:lvl7pPr>
    <a:lvl8pPr marL="3200400" algn="l" defTabSz="914400" rtl="0" eaLnBrk="1" latinLnBrk="0" hangingPunct="1">
      <a:defRPr sz="8600" kern="1200">
        <a:solidFill>
          <a:schemeClr val="tx1"/>
        </a:solidFill>
        <a:latin typeface="Arial" panose="020B0604020202020204" pitchFamily="34" charset="0"/>
        <a:ea typeface="+mn-ea"/>
        <a:cs typeface="+mn-cs"/>
      </a:defRPr>
    </a:lvl8pPr>
    <a:lvl9pPr marL="3657600" algn="l" defTabSz="914400" rtl="0" eaLnBrk="1" latinLnBrk="0" hangingPunct="1">
      <a:defRPr sz="86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4836">
          <p15:clr>
            <a:srgbClr val="A4A3A4"/>
          </p15:clr>
        </p15:guide>
        <p15:guide id="2" orient="horz" pos="20196">
          <p15:clr>
            <a:srgbClr val="A4A3A4"/>
          </p15:clr>
        </p15:guide>
        <p15:guide id="3" orient="horz" pos="2148">
          <p15:clr>
            <a:srgbClr val="A4A3A4"/>
          </p15:clr>
        </p15:guide>
        <p15:guide id="4" pos="6912">
          <p15:clr>
            <a:srgbClr val="A4A3A4"/>
          </p15:clr>
        </p15:guide>
        <p15:guide id="5" pos="2073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6D2"/>
    <a:srgbClr val="EAEAEA"/>
    <a:srgbClr val="C0C0C0"/>
    <a:srgbClr val="FF0000"/>
    <a:srgbClr val="698ED9"/>
    <a:srgbClr val="A7C4FF"/>
    <a:srgbClr val="003064"/>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8C7F79-565D-5DF8-2EF1-E9862DB18A2B}" v="798" dt="2022-12-14T18:56:10.570"/>
    <p1510:client id="{235E7A34-EF5B-FB91-D5FD-6DEA7D1911C0}" v="63" dt="2022-12-14T18:56:03.630"/>
    <p1510:client id="{3978B0B0-0C1D-4752-9BC4-E4DBAB80196A}" v="1041" dt="2022-12-06T07:51:47.965"/>
    <p1510:client id="{661A3504-3FE3-41E7-A342-633C4177B0AF}" v="127" dt="2022-12-04T18:48:28.179"/>
    <p1510:client id="{B7016BFE-DB3C-CAE5-40BA-BCBA6FE0C664}" v="439" dt="2022-12-04T21:27:32.312"/>
    <p1510:client id="{B8B105F8-D81B-356C-D28B-D3C36B2E4775}" v="5865" dt="2022-12-04T22:53:20.877"/>
    <p1510:client id="{E239D59A-EC72-87FF-7521-C8FE21696F3D}" v="312" dt="2022-12-04T21:37:11.3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4836"/>
        <p:guide orient="horz" pos="20196"/>
        <p:guide orient="horz" pos="2148"/>
        <p:guide pos="6912"/>
        <p:guide pos="20736"/>
      </p:guideLst>
    </p:cSldViewPr>
  </p:slide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D3142DB-4F9A-3D69-7CF7-F44E55DB6183}"/>
              </a:ext>
            </a:extLst>
          </p:cNvPr>
          <p:cNvSpPr>
            <a:spLocks noGrp="1" noChangeArrowheads="1"/>
          </p:cNvSpPr>
          <p:nvPr>
            <p:ph type="hdr" sz="quarter"/>
          </p:nvPr>
        </p:nvSpPr>
        <p:spPr bwMode="auto">
          <a:xfrm>
            <a:off x="0" y="0"/>
            <a:ext cx="2909888"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p>
        </p:txBody>
      </p:sp>
      <p:sp>
        <p:nvSpPr>
          <p:cNvPr id="3075" name="Rectangle 3">
            <a:extLst>
              <a:ext uri="{FF2B5EF4-FFF2-40B4-BE49-F238E27FC236}">
                <a16:creationId xmlns:a16="http://schemas.microsoft.com/office/drawing/2014/main" id="{219E88CE-F280-4E62-B834-D2CA51E7C273}"/>
              </a:ext>
            </a:extLst>
          </p:cNvPr>
          <p:cNvSpPr>
            <a:spLocks noGrp="1" noChangeArrowheads="1"/>
          </p:cNvSpPr>
          <p:nvPr>
            <p:ph type="dt" idx="1"/>
          </p:nvPr>
        </p:nvSpPr>
        <p:spPr bwMode="auto">
          <a:xfrm>
            <a:off x="3803650" y="0"/>
            <a:ext cx="2909888"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4">
            <a:extLst>
              <a:ext uri="{FF2B5EF4-FFF2-40B4-BE49-F238E27FC236}">
                <a16:creationId xmlns:a16="http://schemas.microsoft.com/office/drawing/2014/main" id="{53D0BED8-B096-5D93-338B-AFA240A6F27B}"/>
              </a:ext>
            </a:extLst>
          </p:cNvPr>
          <p:cNvSpPr>
            <a:spLocks noGrp="1" noRot="1" noChangeAspect="1" noChangeArrowheads="1" noTextEdit="1"/>
          </p:cNvSpPr>
          <p:nvPr>
            <p:ph type="sldImg" idx="2"/>
          </p:nvPr>
        </p:nvSpPr>
        <p:spPr bwMode="auto">
          <a:xfrm>
            <a:off x="1047750" y="692150"/>
            <a:ext cx="4621213" cy="34655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8A6ED32A-32EB-582F-D824-ADF4D1D0A8B8}"/>
              </a:ext>
            </a:extLst>
          </p:cNvPr>
          <p:cNvSpPr>
            <a:spLocks noGrp="1" noChangeArrowheads="1"/>
          </p:cNvSpPr>
          <p:nvPr>
            <p:ph type="body" sz="quarter" idx="3"/>
          </p:nvPr>
        </p:nvSpPr>
        <p:spPr bwMode="auto">
          <a:xfrm>
            <a:off x="671513" y="4389438"/>
            <a:ext cx="5372100" cy="41576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7E5B62E1-F3C1-90FF-C33C-4100EF8B65E3}"/>
              </a:ext>
            </a:extLst>
          </p:cNvPr>
          <p:cNvSpPr>
            <a:spLocks noGrp="1" noChangeArrowheads="1"/>
          </p:cNvSpPr>
          <p:nvPr>
            <p:ph type="ftr" sz="quarter" idx="4"/>
          </p:nvPr>
        </p:nvSpPr>
        <p:spPr bwMode="auto">
          <a:xfrm>
            <a:off x="0" y="8775700"/>
            <a:ext cx="2909888" cy="4619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3079" name="Rectangle 7">
            <a:extLst>
              <a:ext uri="{FF2B5EF4-FFF2-40B4-BE49-F238E27FC236}">
                <a16:creationId xmlns:a16="http://schemas.microsoft.com/office/drawing/2014/main" id="{110DE4A5-321D-3D6E-D4C2-CFAF52071318}"/>
              </a:ext>
            </a:extLst>
          </p:cNvPr>
          <p:cNvSpPr>
            <a:spLocks noGrp="1" noChangeArrowheads="1"/>
          </p:cNvSpPr>
          <p:nvPr>
            <p:ph type="sldNum" sz="quarter" idx="5"/>
          </p:nvPr>
        </p:nvSpPr>
        <p:spPr bwMode="auto">
          <a:xfrm>
            <a:off x="3803650" y="8775700"/>
            <a:ext cx="2909888" cy="4619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F6954541-CBF4-4840-B62C-D9084B3E8C3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35805BB7-FEE9-0299-8EA5-D7E84B6EF9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E57702B-C4D3-4987-9DF0-7282232049A9}" type="slidenum">
              <a:rPr lang="en-US" altLang="en-US"/>
              <a:pPr>
                <a:spcBef>
                  <a:spcPct val="0"/>
                </a:spcBef>
              </a:pPr>
              <a:t>1</a:t>
            </a:fld>
            <a:endParaRPr lang="en-US" altLang="en-US"/>
          </a:p>
        </p:txBody>
      </p:sp>
      <p:sp>
        <p:nvSpPr>
          <p:cNvPr id="4099" name="Rectangle 2">
            <a:extLst>
              <a:ext uri="{FF2B5EF4-FFF2-40B4-BE49-F238E27FC236}">
                <a16:creationId xmlns:a16="http://schemas.microsoft.com/office/drawing/2014/main" id="{07306B66-5208-EFC1-BD4C-25DE061B846A}"/>
              </a:ext>
            </a:extLst>
          </p:cNvPr>
          <p:cNvSpPr>
            <a:spLocks noGrp="1" noRot="1" noChangeAspect="1" noChangeArrowheads="1" noTextEdit="1"/>
          </p:cNvSpPr>
          <p:nvPr>
            <p:ph type="sldImg"/>
          </p:nvPr>
        </p:nvSpPr>
        <p:spPr>
          <a:ln/>
        </p:spPr>
      </p:sp>
      <p:sp>
        <p:nvSpPr>
          <p:cNvPr id="4100" name="Rectangle 3">
            <a:extLst>
              <a:ext uri="{FF2B5EF4-FFF2-40B4-BE49-F238E27FC236}">
                <a16:creationId xmlns:a16="http://schemas.microsoft.com/office/drawing/2014/main" id="{A395921B-13CF-8D3C-98E2-650EA198F4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46978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12">
            <a:extLst>
              <a:ext uri="{FF2B5EF4-FFF2-40B4-BE49-F238E27FC236}">
                <a16:creationId xmlns:a16="http://schemas.microsoft.com/office/drawing/2014/main" id="{24E282F0-407E-4F24-CE43-405DDF3836DA}"/>
              </a:ext>
            </a:extLst>
          </p:cNvPr>
          <p:cNvGraphicFramePr>
            <a:graphicFrameLocks noChangeAspect="1"/>
          </p:cNvGraphicFramePr>
          <p:nvPr userDrawn="1"/>
        </p:nvGraphicFramePr>
        <p:xfrm>
          <a:off x="35814000" y="32385000"/>
          <a:ext cx="6759575" cy="212725"/>
        </p:xfrm>
        <a:graphic>
          <a:graphicData uri="http://schemas.openxmlformats.org/presentationml/2006/ole">
            <mc:AlternateContent xmlns:mc="http://schemas.openxmlformats.org/markup-compatibility/2006">
              <mc:Choice xmlns:v="urn:schemas-microsoft-com:vml" Requires="v">
                <p:oleObj name="CorelDRAW" r:id="rId3" imgW="8833104" imgH="310896" progId="">
                  <p:embed/>
                </p:oleObj>
              </mc:Choice>
              <mc:Fallback>
                <p:oleObj name="CorelDRAW" r:id="rId3" imgW="8833104" imgH="310896" progId="">
                  <p:embed/>
                  <p:pic>
                    <p:nvPicPr>
                      <p:cNvPr id="1026" name="Object 12">
                        <a:extLst>
                          <a:ext uri="{FF2B5EF4-FFF2-40B4-BE49-F238E27FC236}">
                            <a16:creationId xmlns:a16="http://schemas.microsoft.com/office/drawing/2014/main" id="{24E282F0-407E-4F24-CE43-405DDF3836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0" y="32385000"/>
                        <a:ext cx="6759575" cy="21272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389438" rtl="0" eaLnBrk="0" fontAlgn="base" hangingPunct="0">
        <a:spcBef>
          <a:spcPct val="0"/>
        </a:spcBef>
        <a:spcAft>
          <a:spcPct val="0"/>
        </a:spcAft>
        <a:defRPr sz="21100">
          <a:solidFill>
            <a:schemeClr val="tx2"/>
          </a:solidFill>
          <a:latin typeface="+mj-lt"/>
          <a:ea typeface="+mj-ea"/>
          <a:cs typeface="+mj-cs"/>
        </a:defRPr>
      </a:lvl1pPr>
      <a:lvl2pPr algn="ctr" defTabSz="4389438" rtl="0" eaLnBrk="0" fontAlgn="base" hangingPunct="0">
        <a:spcBef>
          <a:spcPct val="0"/>
        </a:spcBef>
        <a:spcAft>
          <a:spcPct val="0"/>
        </a:spcAft>
        <a:defRPr sz="21100">
          <a:solidFill>
            <a:schemeClr val="tx2"/>
          </a:solidFill>
          <a:latin typeface="Arial" charset="0"/>
        </a:defRPr>
      </a:lvl2pPr>
      <a:lvl3pPr algn="ctr" defTabSz="4389438" rtl="0" eaLnBrk="0" fontAlgn="base" hangingPunct="0">
        <a:spcBef>
          <a:spcPct val="0"/>
        </a:spcBef>
        <a:spcAft>
          <a:spcPct val="0"/>
        </a:spcAft>
        <a:defRPr sz="21100">
          <a:solidFill>
            <a:schemeClr val="tx2"/>
          </a:solidFill>
          <a:latin typeface="Arial" charset="0"/>
        </a:defRPr>
      </a:lvl3pPr>
      <a:lvl4pPr algn="ctr" defTabSz="4389438" rtl="0" eaLnBrk="0" fontAlgn="base" hangingPunct="0">
        <a:spcBef>
          <a:spcPct val="0"/>
        </a:spcBef>
        <a:spcAft>
          <a:spcPct val="0"/>
        </a:spcAft>
        <a:defRPr sz="21100">
          <a:solidFill>
            <a:schemeClr val="tx2"/>
          </a:solidFill>
          <a:latin typeface="Arial" charset="0"/>
        </a:defRPr>
      </a:lvl4pPr>
      <a:lvl5pPr algn="ctr" defTabSz="4389438" rtl="0" eaLnBrk="0" fontAlgn="base" hangingPunct="0">
        <a:spcBef>
          <a:spcPct val="0"/>
        </a:spcBef>
        <a:spcAft>
          <a:spcPct val="0"/>
        </a:spcAft>
        <a:defRPr sz="21100">
          <a:solidFill>
            <a:schemeClr val="tx2"/>
          </a:solidFill>
          <a:latin typeface="Arial" charset="0"/>
        </a:defRPr>
      </a:lvl5pPr>
      <a:lvl6pPr marL="457200" algn="ctr" defTabSz="4389438" rtl="0" fontAlgn="base">
        <a:spcBef>
          <a:spcPct val="0"/>
        </a:spcBef>
        <a:spcAft>
          <a:spcPct val="0"/>
        </a:spcAft>
        <a:defRPr sz="21100">
          <a:solidFill>
            <a:schemeClr val="tx2"/>
          </a:solidFill>
          <a:latin typeface="Arial" charset="0"/>
        </a:defRPr>
      </a:lvl6pPr>
      <a:lvl7pPr marL="914400" algn="ctr" defTabSz="4389438" rtl="0" fontAlgn="base">
        <a:spcBef>
          <a:spcPct val="0"/>
        </a:spcBef>
        <a:spcAft>
          <a:spcPct val="0"/>
        </a:spcAft>
        <a:defRPr sz="21100">
          <a:solidFill>
            <a:schemeClr val="tx2"/>
          </a:solidFill>
          <a:latin typeface="Arial" charset="0"/>
        </a:defRPr>
      </a:lvl7pPr>
      <a:lvl8pPr marL="1371600" algn="ctr" defTabSz="4389438" rtl="0" fontAlgn="base">
        <a:spcBef>
          <a:spcPct val="0"/>
        </a:spcBef>
        <a:spcAft>
          <a:spcPct val="0"/>
        </a:spcAft>
        <a:defRPr sz="21100">
          <a:solidFill>
            <a:schemeClr val="tx2"/>
          </a:solidFill>
          <a:latin typeface="Arial" charset="0"/>
        </a:defRPr>
      </a:lvl8pPr>
      <a:lvl9pPr marL="1828800" algn="ctr" defTabSz="4389438" rtl="0" fontAlgn="base">
        <a:spcBef>
          <a:spcPct val="0"/>
        </a:spcBef>
        <a:spcAft>
          <a:spcPct val="0"/>
        </a:spcAft>
        <a:defRPr sz="21100">
          <a:solidFill>
            <a:schemeClr val="tx2"/>
          </a:solidFill>
          <a:latin typeface="Arial" charset="0"/>
        </a:defRPr>
      </a:lvl9pPr>
    </p:titleStyle>
    <p:bodyStyle>
      <a:lvl1pPr marL="1646238" indent="-1646238" algn="l" defTabSz="4389438" rtl="0" eaLnBrk="0" fontAlgn="base" hangingPunct="0">
        <a:spcBef>
          <a:spcPct val="20000"/>
        </a:spcBef>
        <a:spcAft>
          <a:spcPct val="0"/>
        </a:spcAft>
        <a:buChar char="•"/>
        <a:defRPr sz="15400">
          <a:solidFill>
            <a:schemeClr val="tx1"/>
          </a:solidFill>
          <a:latin typeface="+mn-lt"/>
          <a:ea typeface="+mn-ea"/>
          <a:cs typeface="+mn-cs"/>
        </a:defRPr>
      </a:lvl1pPr>
      <a:lvl2pPr marL="3565525" indent="-1371600" algn="l" defTabSz="4389438" rtl="0" eaLnBrk="0" fontAlgn="base" hangingPunct="0">
        <a:spcBef>
          <a:spcPct val="20000"/>
        </a:spcBef>
        <a:spcAft>
          <a:spcPct val="0"/>
        </a:spcAft>
        <a:buChar char="–"/>
        <a:defRPr sz="13400">
          <a:solidFill>
            <a:schemeClr val="tx1"/>
          </a:solidFill>
          <a:latin typeface="+mn-lt"/>
        </a:defRPr>
      </a:lvl2pPr>
      <a:lvl3pPr marL="5486400" indent="-1096963" algn="l" defTabSz="4389438" rtl="0" eaLnBrk="0" fontAlgn="base" hangingPunct="0">
        <a:spcBef>
          <a:spcPct val="20000"/>
        </a:spcBef>
        <a:spcAft>
          <a:spcPct val="0"/>
        </a:spcAft>
        <a:buChar char="•"/>
        <a:defRPr sz="11500">
          <a:solidFill>
            <a:schemeClr val="tx1"/>
          </a:solidFill>
          <a:latin typeface="+mn-lt"/>
        </a:defRPr>
      </a:lvl3pPr>
      <a:lvl4pPr marL="7680325" indent="-1096963" algn="l" defTabSz="4389438" rtl="0" eaLnBrk="0" fontAlgn="base" hangingPunct="0">
        <a:spcBef>
          <a:spcPct val="20000"/>
        </a:spcBef>
        <a:spcAft>
          <a:spcPct val="0"/>
        </a:spcAft>
        <a:buChar char="–"/>
        <a:defRPr sz="9600">
          <a:solidFill>
            <a:schemeClr val="tx1"/>
          </a:solidFill>
          <a:latin typeface="+mn-lt"/>
        </a:defRPr>
      </a:lvl4pPr>
      <a:lvl5pPr marL="9875838" indent="-1096963" algn="l" defTabSz="4389438" rtl="0" eaLnBrk="0" fontAlgn="base" hangingPunct="0">
        <a:spcBef>
          <a:spcPct val="20000"/>
        </a:spcBef>
        <a:spcAft>
          <a:spcPct val="0"/>
        </a:spcAft>
        <a:buChar char="»"/>
        <a:defRPr sz="9600">
          <a:solidFill>
            <a:schemeClr val="tx1"/>
          </a:solidFill>
          <a:latin typeface="+mn-lt"/>
        </a:defRPr>
      </a:lvl5pPr>
      <a:lvl6pPr marL="10333038" indent="-1096963" algn="l" defTabSz="4389438" rtl="0" fontAlgn="base">
        <a:spcBef>
          <a:spcPct val="20000"/>
        </a:spcBef>
        <a:spcAft>
          <a:spcPct val="0"/>
        </a:spcAft>
        <a:buChar char="»"/>
        <a:defRPr sz="9600">
          <a:solidFill>
            <a:schemeClr val="tx1"/>
          </a:solidFill>
          <a:latin typeface="+mn-lt"/>
        </a:defRPr>
      </a:lvl6pPr>
      <a:lvl7pPr marL="10790238" indent="-1096963" algn="l" defTabSz="4389438" rtl="0" fontAlgn="base">
        <a:spcBef>
          <a:spcPct val="20000"/>
        </a:spcBef>
        <a:spcAft>
          <a:spcPct val="0"/>
        </a:spcAft>
        <a:buChar char="»"/>
        <a:defRPr sz="9600">
          <a:solidFill>
            <a:schemeClr val="tx1"/>
          </a:solidFill>
          <a:latin typeface="+mn-lt"/>
        </a:defRPr>
      </a:lvl7pPr>
      <a:lvl8pPr marL="11247438" indent="-1096963" algn="l" defTabSz="4389438" rtl="0" fontAlgn="base">
        <a:spcBef>
          <a:spcPct val="20000"/>
        </a:spcBef>
        <a:spcAft>
          <a:spcPct val="0"/>
        </a:spcAft>
        <a:buChar char="»"/>
        <a:defRPr sz="9600">
          <a:solidFill>
            <a:schemeClr val="tx1"/>
          </a:solidFill>
          <a:latin typeface="+mn-lt"/>
        </a:defRPr>
      </a:lvl8pPr>
      <a:lvl9pPr marL="11704638" indent="-1096963" algn="l" defTabSz="4389438" rtl="0" fontAlgn="base">
        <a:spcBef>
          <a:spcPct val="20000"/>
        </a:spcBef>
        <a:spcAft>
          <a:spcPct val="0"/>
        </a:spcAft>
        <a:buChar char="»"/>
        <a:defRPr sz="9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18" Type="http://schemas.openxmlformats.org/officeDocument/2006/relationships/image" Target="../media/image15.png"/><Relationship Id="rId3" Type="http://schemas.openxmlformats.org/officeDocument/2006/relationships/hyperlink" Target="https://arxiv.org/abs/1503.02531" TargetMode="External"/><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12.pn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hyperlink" Target="https://towardsdatascience.com/a-comprehensive-hands-on-guide-to-transfer-learning-with-real-world-applications-in-deep-learning-212bf3b2f27a" TargetMode="External"/><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3064"/>
            </a:gs>
            <a:gs pos="50000">
              <a:srgbClr val="EAEAEA"/>
            </a:gs>
            <a:gs pos="100000">
              <a:srgbClr val="003064"/>
            </a:gs>
          </a:gsLst>
          <a:lin ang="5400000" scaled="1"/>
        </a:gradFill>
        <a:effectLst/>
      </p:bgPr>
    </p:bg>
    <p:spTree>
      <p:nvGrpSpPr>
        <p:cNvPr id="1" name=""/>
        <p:cNvGrpSpPr/>
        <p:nvPr/>
      </p:nvGrpSpPr>
      <p:grpSpPr>
        <a:xfrm>
          <a:off x="0" y="0"/>
          <a:ext cx="0" cy="0"/>
          <a:chOff x="0" y="0"/>
          <a:chExt cx="0" cy="0"/>
        </a:xfrm>
      </p:grpSpPr>
      <p:sp>
        <p:nvSpPr>
          <p:cNvPr id="3074" name="AutoShape 30">
            <a:extLst>
              <a:ext uri="{FF2B5EF4-FFF2-40B4-BE49-F238E27FC236}">
                <a16:creationId xmlns:a16="http://schemas.microsoft.com/office/drawing/2014/main" id="{1DCFDE46-2683-39A2-14F9-282D2DCCF1C5}"/>
              </a:ext>
            </a:extLst>
          </p:cNvPr>
          <p:cNvSpPr>
            <a:spLocks noChangeArrowheads="1"/>
          </p:cNvSpPr>
          <p:nvPr/>
        </p:nvSpPr>
        <p:spPr bwMode="auto">
          <a:xfrm>
            <a:off x="33356550" y="6096000"/>
            <a:ext cx="9882188" cy="25984200"/>
          </a:xfrm>
          <a:prstGeom prst="roundRect">
            <a:avLst>
              <a:gd name="adj" fmla="val 7000"/>
            </a:avLst>
          </a:prstGeom>
          <a:solidFill>
            <a:schemeClr val="bg1"/>
          </a:solidFill>
          <a:ln w="9525">
            <a:solidFill>
              <a:schemeClr val="tx1"/>
            </a:solidFill>
            <a:round/>
            <a:headEnd/>
            <a:tailEnd/>
          </a:ln>
        </p:spPr>
        <p:txBody>
          <a:bodyPr wrap="none" anchor="ctr"/>
          <a:lstStyle>
            <a:lvl1pPr>
              <a:defRPr sz="8600">
                <a:solidFill>
                  <a:schemeClr val="tx1"/>
                </a:solidFill>
                <a:latin typeface="Arial" panose="020B0604020202020204" pitchFamily="34" charset="0"/>
              </a:defRPr>
            </a:lvl1pPr>
            <a:lvl2pPr marL="742950" indent="-285750">
              <a:defRPr sz="8600">
                <a:solidFill>
                  <a:schemeClr val="tx1"/>
                </a:solidFill>
                <a:latin typeface="Arial" panose="020B0604020202020204" pitchFamily="34" charset="0"/>
              </a:defRPr>
            </a:lvl2pPr>
            <a:lvl3pPr marL="1143000" indent="-228600">
              <a:defRPr sz="8600">
                <a:solidFill>
                  <a:schemeClr val="tx1"/>
                </a:solidFill>
                <a:latin typeface="Arial" panose="020B0604020202020204" pitchFamily="34" charset="0"/>
              </a:defRPr>
            </a:lvl3pPr>
            <a:lvl4pPr marL="1600200" indent="-228600">
              <a:defRPr sz="8600">
                <a:solidFill>
                  <a:schemeClr val="tx1"/>
                </a:solidFill>
                <a:latin typeface="Arial" panose="020B0604020202020204" pitchFamily="34" charset="0"/>
              </a:defRPr>
            </a:lvl4pPr>
            <a:lvl5pPr marL="2057400" indent="-228600">
              <a:defRPr sz="8600">
                <a:solidFill>
                  <a:schemeClr val="tx1"/>
                </a:solidFill>
                <a:latin typeface="Arial" panose="020B0604020202020204" pitchFamily="34" charset="0"/>
              </a:defRPr>
            </a:lvl5pPr>
            <a:lvl6pPr marL="2514600" indent="-228600" eaLnBrk="0" fontAlgn="base" hangingPunct="0">
              <a:spcBef>
                <a:spcPct val="0"/>
              </a:spcBef>
              <a:spcAft>
                <a:spcPct val="0"/>
              </a:spcAft>
              <a:defRPr sz="8600">
                <a:solidFill>
                  <a:schemeClr val="tx1"/>
                </a:solidFill>
                <a:latin typeface="Arial" panose="020B0604020202020204" pitchFamily="34" charset="0"/>
              </a:defRPr>
            </a:lvl6pPr>
            <a:lvl7pPr marL="2971800" indent="-228600" eaLnBrk="0" fontAlgn="base" hangingPunct="0">
              <a:spcBef>
                <a:spcPct val="0"/>
              </a:spcBef>
              <a:spcAft>
                <a:spcPct val="0"/>
              </a:spcAft>
              <a:defRPr sz="8600">
                <a:solidFill>
                  <a:schemeClr val="tx1"/>
                </a:solidFill>
                <a:latin typeface="Arial" panose="020B0604020202020204" pitchFamily="34" charset="0"/>
              </a:defRPr>
            </a:lvl7pPr>
            <a:lvl8pPr marL="3429000" indent="-228600" eaLnBrk="0" fontAlgn="base" hangingPunct="0">
              <a:spcBef>
                <a:spcPct val="0"/>
              </a:spcBef>
              <a:spcAft>
                <a:spcPct val="0"/>
              </a:spcAft>
              <a:defRPr sz="8600">
                <a:solidFill>
                  <a:schemeClr val="tx1"/>
                </a:solidFill>
                <a:latin typeface="Arial" panose="020B0604020202020204" pitchFamily="34" charset="0"/>
              </a:defRPr>
            </a:lvl8pPr>
            <a:lvl9pPr marL="3886200" indent="-228600" eaLnBrk="0" fontAlgn="base" hangingPunct="0">
              <a:spcBef>
                <a:spcPct val="0"/>
              </a:spcBef>
              <a:spcAft>
                <a:spcPct val="0"/>
              </a:spcAft>
              <a:defRPr sz="8600">
                <a:solidFill>
                  <a:schemeClr val="tx1"/>
                </a:solidFill>
                <a:latin typeface="Arial" panose="020B0604020202020204" pitchFamily="34" charset="0"/>
              </a:defRPr>
            </a:lvl9pPr>
          </a:lstStyle>
          <a:p>
            <a:pPr algn="ctr" eaLnBrk="1" hangingPunct="1"/>
            <a:endParaRPr lang="en-US" altLang="en-US"/>
          </a:p>
        </p:txBody>
      </p:sp>
      <p:sp>
        <p:nvSpPr>
          <p:cNvPr id="3075" name="AutoShape 29">
            <a:extLst>
              <a:ext uri="{FF2B5EF4-FFF2-40B4-BE49-F238E27FC236}">
                <a16:creationId xmlns:a16="http://schemas.microsoft.com/office/drawing/2014/main" id="{5308C78E-6A65-FD01-CBE1-3AFF22869C85}"/>
              </a:ext>
            </a:extLst>
          </p:cNvPr>
          <p:cNvSpPr>
            <a:spLocks noChangeArrowheads="1"/>
          </p:cNvSpPr>
          <p:nvPr/>
        </p:nvSpPr>
        <p:spPr bwMode="auto">
          <a:xfrm>
            <a:off x="11353800" y="6096000"/>
            <a:ext cx="10363200" cy="25984200"/>
          </a:xfrm>
          <a:prstGeom prst="roundRect">
            <a:avLst>
              <a:gd name="adj" fmla="val 7000"/>
            </a:avLst>
          </a:prstGeom>
          <a:solidFill>
            <a:schemeClr val="bg1"/>
          </a:solidFill>
          <a:ln w="9525">
            <a:solidFill>
              <a:schemeClr val="tx1"/>
            </a:solidFill>
            <a:round/>
            <a:headEnd/>
            <a:tailEnd/>
          </a:ln>
        </p:spPr>
        <p:txBody>
          <a:bodyPr wrap="none" anchor="ctr"/>
          <a:lstStyle>
            <a:lvl1pPr>
              <a:defRPr sz="8600">
                <a:solidFill>
                  <a:schemeClr val="tx1"/>
                </a:solidFill>
                <a:latin typeface="Arial" panose="020B0604020202020204" pitchFamily="34" charset="0"/>
              </a:defRPr>
            </a:lvl1pPr>
            <a:lvl2pPr marL="742950" indent="-285750">
              <a:defRPr sz="8600">
                <a:solidFill>
                  <a:schemeClr val="tx1"/>
                </a:solidFill>
                <a:latin typeface="Arial" panose="020B0604020202020204" pitchFamily="34" charset="0"/>
              </a:defRPr>
            </a:lvl2pPr>
            <a:lvl3pPr marL="1143000" indent="-228600">
              <a:defRPr sz="8600">
                <a:solidFill>
                  <a:schemeClr val="tx1"/>
                </a:solidFill>
                <a:latin typeface="Arial" panose="020B0604020202020204" pitchFamily="34" charset="0"/>
              </a:defRPr>
            </a:lvl3pPr>
            <a:lvl4pPr marL="1600200" indent="-228600">
              <a:defRPr sz="8600">
                <a:solidFill>
                  <a:schemeClr val="tx1"/>
                </a:solidFill>
                <a:latin typeface="Arial" panose="020B0604020202020204" pitchFamily="34" charset="0"/>
              </a:defRPr>
            </a:lvl4pPr>
            <a:lvl5pPr marL="2057400" indent="-228600">
              <a:defRPr sz="8600">
                <a:solidFill>
                  <a:schemeClr val="tx1"/>
                </a:solidFill>
                <a:latin typeface="Arial" panose="020B0604020202020204" pitchFamily="34" charset="0"/>
              </a:defRPr>
            </a:lvl5pPr>
            <a:lvl6pPr marL="2514600" indent="-228600" eaLnBrk="0" fontAlgn="base" hangingPunct="0">
              <a:spcBef>
                <a:spcPct val="0"/>
              </a:spcBef>
              <a:spcAft>
                <a:spcPct val="0"/>
              </a:spcAft>
              <a:defRPr sz="8600">
                <a:solidFill>
                  <a:schemeClr val="tx1"/>
                </a:solidFill>
                <a:latin typeface="Arial" panose="020B0604020202020204" pitchFamily="34" charset="0"/>
              </a:defRPr>
            </a:lvl6pPr>
            <a:lvl7pPr marL="2971800" indent="-228600" eaLnBrk="0" fontAlgn="base" hangingPunct="0">
              <a:spcBef>
                <a:spcPct val="0"/>
              </a:spcBef>
              <a:spcAft>
                <a:spcPct val="0"/>
              </a:spcAft>
              <a:defRPr sz="8600">
                <a:solidFill>
                  <a:schemeClr val="tx1"/>
                </a:solidFill>
                <a:latin typeface="Arial" panose="020B0604020202020204" pitchFamily="34" charset="0"/>
              </a:defRPr>
            </a:lvl7pPr>
            <a:lvl8pPr marL="3429000" indent="-228600" eaLnBrk="0" fontAlgn="base" hangingPunct="0">
              <a:spcBef>
                <a:spcPct val="0"/>
              </a:spcBef>
              <a:spcAft>
                <a:spcPct val="0"/>
              </a:spcAft>
              <a:defRPr sz="8600">
                <a:solidFill>
                  <a:schemeClr val="tx1"/>
                </a:solidFill>
                <a:latin typeface="Arial" panose="020B0604020202020204" pitchFamily="34" charset="0"/>
              </a:defRPr>
            </a:lvl8pPr>
            <a:lvl9pPr marL="3886200" indent="-228600" eaLnBrk="0" fontAlgn="base" hangingPunct="0">
              <a:spcBef>
                <a:spcPct val="0"/>
              </a:spcBef>
              <a:spcAft>
                <a:spcPct val="0"/>
              </a:spcAft>
              <a:defRPr sz="8600">
                <a:solidFill>
                  <a:schemeClr val="tx1"/>
                </a:solidFill>
                <a:latin typeface="Arial" panose="020B0604020202020204" pitchFamily="34" charset="0"/>
              </a:defRPr>
            </a:lvl9pPr>
          </a:lstStyle>
          <a:p>
            <a:pPr algn="ctr" eaLnBrk="1" hangingPunct="1"/>
            <a:endParaRPr lang="en-US" altLang="en-US"/>
          </a:p>
        </p:txBody>
      </p:sp>
      <p:sp>
        <p:nvSpPr>
          <p:cNvPr id="3076" name="AutoShape 31">
            <a:extLst>
              <a:ext uri="{FF2B5EF4-FFF2-40B4-BE49-F238E27FC236}">
                <a16:creationId xmlns:a16="http://schemas.microsoft.com/office/drawing/2014/main" id="{8CF25F40-3FBA-A58E-622F-D08A7B70FDDF}"/>
              </a:ext>
            </a:extLst>
          </p:cNvPr>
          <p:cNvSpPr>
            <a:spLocks noChangeArrowheads="1"/>
          </p:cNvSpPr>
          <p:nvPr/>
        </p:nvSpPr>
        <p:spPr bwMode="auto">
          <a:xfrm>
            <a:off x="22098000" y="6096000"/>
            <a:ext cx="10363200" cy="25984200"/>
          </a:xfrm>
          <a:prstGeom prst="roundRect">
            <a:avLst>
              <a:gd name="adj" fmla="val 7000"/>
            </a:avLst>
          </a:prstGeom>
          <a:solidFill>
            <a:schemeClr val="bg1"/>
          </a:solidFill>
          <a:ln w="9525">
            <a:solidFill>
              <a:schemeClr val="tx1"/>
            </a:solidFill>
            <a:round/>
            <a:headEnd/>
            <a:tailEnd/>
          </a:ln>
        </p:spPr>
        <p:txBody>
          <a:bodyPr wrap="none" anchor="ctr"/>
          <a:lstStyle>
            <a:lvl1pPr>
              <a:defRPr sz="8600">
                <a:solidFill>
                  <a:schemeClr val="tx1"/>
                </a:solidFill>
                <a:latin typeface="Arial" panose="020B0604020202020204" pitchFamily="34" charset="0"/>
              </a:defRPr>
            </a:lvl1pPr>
            <a:lvl2pPr marL="742950" indent="-285750">
              <a:defRPr sz="8600">
                <a:solidFill>
                  <a:schemeClr val="tx1"/>
                </a:solidFill>
                <a:latin typeface="Arial" panose="020B0604020202020204" pitchFamily="34" charset="0"/>
              </a:defRPr>
            </a:lvl2pPr>
            <a:lvl3pPr marL="1143000" indent="-228600">
              <a:defRPr sz="8600">
                <a:solidFill>
                  <a:schemeClr val="tx1"/>
                </a:solidFill>
                <a:latin typeface="Arial" panose="020B0604020202020204" pitchFamily="34" charset="0"/>
              </a:defRPr>
            </a:lvl3pPr>
            <a:lvl4pPr marL="1600200" indent="-228600">
              <a:defRPr sz="8600">
                <a:solidFill>
                  <a:schemeClr val="tx1"/>
                </a:solidFill>
                <a:latin typeface="Arial" panose="020B0604020202020204" pitchFamily="34" charset="0"/>
              </a:defRPr>
            </a:lvl4pPr>
            <a:lvl5pPr marL="2057400" indent="-228600">
              <a:defRPr sz="8600">
                <a:solidFill>
                  <a:schemeClr val="tx1"/>
                </a:solidFill>
                <a:latin typeface="Arial" panose="020B0604020202020204" pitchFamily="34" charset="0"/>
              </a:defRPr>
            </a:lvl5pPr>
            <a:lvl6pPr marL="2514600" indent="-228600" eaLnBrk="0" fontAlgn="base" hangingPunct="0">
              <a:spcBef>
                <a:spcPct val="0"/>
              </a:spcBef>
              <a:spcAft>
                <a:spcPct val="0"/>
              </a:spcAft>
              <a:defRPr sz="8600">
                <a:solidFill>
                  <a:schemeClr val="tx1"/>
                </a:solidFill>
                <a:latin typeface="Arial" panose="020B0604020202020204" pitchFamily="34" charset="0"/>
              </a:defRPr>
            </a:lvl6pPr>
            <a:lvl7pPr marL="2971800" indent="-228600" eaLnBrk="0" fontAlgn="base" hangingPunct="0">
              <a:spcBef>
                <a:spcPct val="0"/>
              </a:spcBef>
              <a:spcAft>
                <a:spcPct val="0"/>
              </a:spcAft>
              <a:defRPr sz="8600">
                <a:solidFill>
                  <a:schemeClr val="tx1"/>
                </a:solidFill>
                <a:latin typeface="Arial" panose="020B0604020202020204" pitchFamily="34" charset="0"/>
              </a:defRPr>
            </a:lvl7pPr>
            <a:lvl8pPr marL="3429000" indent="-228600" eaLnBrk="0" fontAlgn="base" hangingPunct="0">
              <a:spcBef>
                <a:spcPct val="0"/>
              </a:spcBef>
              <a:spcAft>
                <a:spcPct val="0"/>
              </a:spcAft>
              <a:defRPr sz="8600">
                <a:solidFill>
                  <a:schemeClr val="tx1"/>
                </a:solidFill>
                <a:latin typeface="Arial" panose="020B0604020202020204" pitchFamily="34" charset="0"/>
              </a:defRPr>
            </a:lvl8pPr>
            <a:lvl9pPr marL="3886200" indent="-228600" eaLnBrk="0" fontAlgn="base" hangingPunct="0">
              <a:spcBef>
                <a:spcPct val="0"/>
              </a:spcBef>
              <a:spcAft>
                <a:spcPct val="0"/>
              </a:spcAft>
              <a:defRPr sz="8600">
                <a:solidFill>
                  <a:schemeClr val="tx1"/>
                </a:solidFill>
                <a:latin typeface="Arial" panose="020B0604020202020204" pitchFamily="34" charset="0"/>
              </a:defRPr>
            </a:lvl9pPr>
          </a:lstStyle>
          <a:p>
            <a:pPr algn="ctr" eaLnBrk="1" hangingPunct="1"/>
            <a:endParaRPr lang="en-US" altLang="en-US"/>
          </a:p>
        </p:txBody>
      </p:sp>
      <p:sp>
        <p:nvSpPr>
          <p:cNvPr id="3077" name="AutoShape 4">
            <a:extLst>
              <a:ext uri="{FF2B5EF4-FFF2-40B4-BE49-F238E27FC236}">
                <a16:creationId xmlns:a16="http://schemas.microsoft.com/office/drawing/2014/main" id="{BFA54808-F676-639F-FFB1-1910B9D2A029}"/>
              </a:ext>
            </a:extLst>
          </p:cNvPr>
          <p:cNvSpPr>
            <a:spLocks noChangeArrowheads="1"/>
          </p:cNvSpPr>
          <p:nvPr/>
        </p:nvSpPr>
        <p:spPr bwMode="auto">
          <a:xfrm>
            <a:off x="713117" y="6096000"/>
            <a:ext cx="9883775" cy="25984200"/>
          </a:xfrm>
          <a:prstGeom prst="roundRect">
            <a:avLst>
              <a:gd name="adj" fmla="val 7000"/>
            </a:avLst>
          </a:prstGeom>
          <a:solidFill>
            <a:schemeClr val="bg1"/>
          </a:solidFill>
          <a:ln w="9525">
            <a:solidFill>
              <a:schemeClr val="tx1"/>
            </a:solidFill>
            <a:round/>
            <a:headEnd/>
            <a:tailEnd/>
          </a:ln>
        </p:spPr>
        <p:txBody>
          <a:bodyPr wrap="none" anchor="ctr"/>
          <a:lstStyle>
            <a:lvl1pPr>
              <a:defRPr sz="8600">
                <a:solidFill>
                  <a:schemeClr val="tx1"/>
                </a:solidFill>
                <a:latin typeface="Arial" panose="020B0604020202020204" pitchFamily="34" charset="0"/>
              </a:defRPr>
            </a:lvl1pPr>
            <a:lvl2pPr marL="742950" indent="-285750">
              <a:defRPr sz="8600">
                <a:solidFill>
                  <a:schemeClr val="tx1"/>
                </a:solidFill>
                <a:latin typeface="Arial" panose="020B0604020202020204" pitchFamily="34" charset="0"/>
              </a:defRPr>
            </a:lvl2pPr>
            <a:lvl3pPr marL="1143000" indent="-228600">
              <a:defRPr sz="8600">
                <a:solidFill>
                  <a:schemeClr val="tx1"/>
                </a:solidFill>
                <a:latin typeface="Arial" panose="020B0604020202020204" pitchFamily="34" charset="0"/>
              </a:defRPr>
            </a:lvl3pPr>
            <a:lvl4pPr marL="1600200" indent="-228600">
              <a:defRPr sz="8600">
                <a:solidFill>
                  <a:schemeClr val="tx1"/>
                </a:solidFill>
                <a:latin typeface="Arial" panose="020B0604020202020204" pitchFamily="34" charset="0"/>
              </a:defRPr>
            </a:lvl4pPr>
            <a:lvl5pPr marL="2057400" indent="-228600">
              <a:defRPr sz="8600">
                <a:solidFill>
                  <a:schemeClr val="tx1"/>
                </a:solidFill>
                <a:latin typeface="Arial" panose="020B0604020202020204" pitchFamily="34" charset="0"/>
              </a:defRPr>
            </a:lvl5pPr>
            <a:lvl6pPr marL="2514600" indent="-228600" eaLnBrk="0" fontAlgn="base" hangingPunct="0">
              <a:spcBef>
                <a:spcPct val="0"/>
              </a:spcBef>
              <a:spcAft>
                <a:spcPct val="0"/>
              </a:spcAft>
              <a:defRPr sz="8600">
                <a:solidFill>
                  <a:schemeClr val="tx1"/>
                </a:solidFill>
                <a:latin typeface="Arial" panose="020B0604020202020204" pitchFamily="34" charset="0"/>
              </a:defRPr>
            </a:lvl6pPr>
            <a:lvl7pPr marL="2971800" indent="-228600" eaLnBrk="0" fontAlgn="base" hangingPunct="0">
              <a:spcBef>
                <a:spcPct val="0"/>
              </a:spcBef>
              <a:spcAft>
                <a:spcPct val="0"/>
              </a:spcAft>
              <a:defRPr sz="8600">
                <a:solidFill>
                  <a:schemeClr val="tx1"/>
                </a:solidFill>
                <a:latin typeface="Arial" panose="020B0604020202020204" pitchFamily="34" charset="0"/>
              </a:defRPr>
            </a:lvl7pPr>
            <a:lvl8pPr marL="3429000" indent="-228600" eaLnBrk="0" fontAlgn="base" hangingPunct="0">
              <a:spcBef>
                <a:spcPct val="0"/>
              </a:spcBef>
              <a:spcAft>
                <a:spcPct val="0"/>
              </a:spcAft>
              <a:defRPr sz="8600">
                <a:solidFill>
                  <a:schemeClr val="tx1"/>
                </a:solidFill>
                <a:latin typeface="Arial" panose="020B0604020202020204" pitchFamily="34" charset="0"/>
              </a:defRPr>
            </a:lvl8pPr>
            <a:lvl9pPr marL="3886200" indent="-228600" eaLnBrk="0" fontAlgn="base" hangingPunct="0">
              <a:spcBef>
                <a:spcPct val="0"/>
              </a:spcBef>
              <a:spcAft>
                <a:spcPct val="0"/>
              </a:spcAft>
              <a:defRPr sz="8600">
                <a:solidFill>
                  <a:schemeClr val="tx1"/>
                </a:solidFill>
                <a:latin typeface="Arial" panose="020B0604020202020204" pitchFamily="34" charset="0"/>
              </a:defRPr>
            </a:lvl9pPr>
          </a:lstStyle>
          <a:p>
            <a:pPr algn="ctr" eaLnBrk="1" hangingPunct="1"/>
            <a:endParaRPr lang="en-US" altLang="en-US"/>
          </a:p>
        </p:txBody>
      </p:sp>
      <p:sp>
        <p:nvSpPr>
          <p:cNvPr id="3078" name="Text Box 9">
            <a:extLst>
              <a:ext uri="{FF2B5EF4-FFF2-40B4-BE49-F238E27FC236}">
                <a16:creationId xmlns:a16="http://schemas.microsoft.com/office/drawing/2014/main" id="{77D3FFCF-1DB0-4085-D3EA-1B50DECFBF21}"/>
              </a:ext>
            </a:extLst>
          </p:cNvPr>
          <p:cNvSpPr txBox="1">
            <a:spLocks noChangeArrowheads="1"/>
          </p:cNvSpPr>
          <p:nvPr/>
        </p:nvSpPr>
        <p:spPr bwMode="auto">
          <a:xfrm>
            <a:off x="901700" y="8816135"/>
            <a:ext cx="9292268" cy="2980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defTabSz="4389438">
              <a:defRPr sz="8600">
                <a:solidFill>
                  <a:schemeClr val="tx1"/>
                </a:solidFill>
                <a:latin typeface="Arial" panose="020B0604020202020204" pitchFamily="34" charset="0"/>
              </a:defRPr>
            </a:lvl1pPr>
            <a:lvl2pPr marL="742950" indent="-285750" defTabSz="4389438">
              <a:defRPr sz="8600">
                <a:solidFill>
                  <a:schemeClr val="tx1"/>
                </a:solidFill>
                <a:latin typeface="Arial" panose="020B0604020202020204" pitchFamily="34" charset="0"/>
              </a:defRPr>
            </a:lvl2pPr>
            <a:lvl3pPr marL="1143000" indent="-228600" defTabSz="4389438">
              <a:defRPr sz="8600">
                <a:solidFill>
                  <a:schemeClr val="tx1"/>
                </a:solidFill>
                <a:latin typeface="Arial" panose="020B0604020202020204" pitchFamily="34" charset="0"/>
              </a:defRPr>
            </a:lvl3pPr>
            <a:lvl4pPr marL="1600200" indent="-228600" defTabSz="4389438">
              <a:defRPr sz="8600">
                <a:solidFill>
                  <a:schemeClr val="tx1"/>
                </a:solidFill>
                <a:latin typeface="Arial" panose="020B0604020202020204" pitchFamily="34" charset="0"/>
              </a:defRPr>
            </a:lvl4pPr>
            <a:lvl5pPr marL="2057400" indent="-228600" defTabSz="4389438">
              <a:defRPr sz="8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8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8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8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8600">
                <a:solidFill>
                  <a:schemeClr val="tx1"/>
                </a:solidFill>
                <a:latin typeface="Arial" panose="020B0604020202020204" pitchFamily="34" charset="0"/>
              </a:defRPr>
            </a:lvl9pPr>
          </a:lstStyle>
          <a:p>
            <a:r>
              <a:rPr lang="en-US" sz="2700">
                <a:latin typeface="Arial"/>
                <a:cs typeface="Arial"/>
              </a:rPr>
              <a:t>Knowledge distillation is a form of model compression methodology used to “capture” and “distill” the knowledge in a complex machine learning model or an ensemble of models (known as teacher model) into a smaller single model (known as student model) that is much easier to deploy [1]. </a:t>
            </a:r>
          </a:p>
          <a:p>
            <a:pPr>
              <a:lnSpc>
                <a:spcPct val="95000"/>
              </a:lnSpc>
            </a:pPr>
            <a:endParaRPr lang="en-US" altLang="en-US" sz="2700">
              <a:latin typeface="Times New Roman" panose="02020603050405020304" pitchFamily="18" charset="0"/>
              <a:cs typeface="Times New Roman" panose="02020603050405020304" pitchFamily="18" charset="0"/>
            </a:endParaRPr>
          </a:p>
        </p:txBody>
      </p:sp>
      <p:sp>
        <p:nvSpPr>
          <p:cNvPr id="3079" name="Text Box 10">
            <a:extLst>
              <a:ext uri="{FF2B5EF4-FFF2-40B4-BE49-F238E27FC236}">
                <a16:creationId xmlns:a16="http://schemas.microsoft.com/office/drawing/2014/main" id="{81D17B3B-D508-6BCC-8D5D-11FB821AAC0F}"/>
              </a:ext>
            </a:extLst>
          </p:cNvPr>
          <p:cNvSpPr txBox="1">
            <a:spLocks noChangeArrowheads="1"/>
          </p:cNvSpPr>
          <p:nvPr/>
        </p:nvSpPr>
        <p:spPr bwMode="auto">
          <a:xfrm>
            <a:off x="11582400" y="6553200"/>
            <a:ext cx="9829800"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389438">
              <a:defRPr sz="8600">
                <a:solidFill>
                  <a:schemeClr val="tx1"/>
                </a:solidFill>
                <a:latin typeface="Arial" panose="020B0604020202020204" pitchFamily="34" charset="0"/>
              </a:defRPr>
            </a:lvl1pPr>
            <a:lvl2pPr marL="742950" indent="-285750" defTabSz="4389438">
              <a:defRPr sz="8600">
                <a:solidFill>
                  <a:schemeClr val="tx1"/>
                </a:solidFill>
                <a:latin typeface="Arial" panose="020B0604020202020204" pitchFamily="34" charset="0"/>
              </a:defRPr>
            </a:lvl2pPr>
            <a:lvl3pPr marL="1143000" indent="-228600" defTabSz="4389438">
              <a:defRPr sz="8600">
                <a:solidFill>
                  <a:schemeClr val="tx1"/>
                </a:solidFill>
                <a:latin typeface="Arial" panose="020B0604020202020204" pitchFamily="34" charset="0"/>
              </a:defRPr>
            </a:lvl3pPr>
            <a:lvl4pPr marL="1600200" indent="-228600" defTabSz="4389438">
              <a:defRPr sz="8600">
                <a:solidFill>
                  <a:schemeClr val="tx1"/>
                </a:solidFill>
                <a:latin typeface="Arial" panose="020B0604020202020204" pitchFamily="34" charset="0"/>
              </a:defRPr>
            </a:lvl4pPr>
            <a:lvl5pPr marL="2057400" indent="-228600" defTabSz="4389438">
              <a:defRPr sz="8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8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8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8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8600">
                <a:solidFill>
                  <a:schemeClr val="tx1"/>
                </a:solidFill>
                <a:latin typeface="Arial" panose="020B0604020202020204" pitchFamily="34" charset="0"/>
              </a:defRPr>
            </a:lvl9pPr>
          </a:lstStyle>
          <a:p>
            <a:pPr algn="ctr" eaLnBrk="1" hangingPunct="1">
              <a:spcBef>
                <a:spcPct val="50000"/>
              </a:spcBef>
            </a:pPr>
            <a:r>
              <a:rPr lang="en-US" altLang="en-US" b="1"/>
              <a:t>Methods</a:t>
            </a:r>
          </a:p>
        </p:txBody>
      </p:sp>
      <p:sp>
        <p:nvSpPr>
          <p:cNvPr id="3080" name="Text Box 11">
            <a:extLst>
              <a:ext uri="{FF2B5EF4-FFF2-40B4-BE49-F238E27FC236}">
                <a16:creationId xmlns:a16="http://schemas.microsoft.com/office/drawing/2014/main" id="{2718F607-E0F9-D469-C6BD-B5581CB07E4C}"/>
              </a:ext>
            </a:extLst>
          </p:cNvPr>
          <p:cNvSpPr txBox="1">
            <a:spLocks noChangeArrowheads="1"/>
          </p:cNvSpPr>
          <p:nvPr/>
        </p:nvSpPr>
        <p:spPr bwMode="auto">
          <a:xfrm>
            <a:off x="33351788" y="6559550"/>
            <a:ext cx="9829800"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389438">
              <a:defRPr sz="8600">
                <a:solidFill>
                  <a:schemeClr val="tx1"/>
                </a:solidFill>
                <a:latin typeface="Arial" panose="020B0604020202020204" pitchFamily="34" charset="0"/>
              </a:defRPr>
            </a:lvl1pPr>
            <a:lvl2pPr marL="742950" indent="-285750" defTabSz="4389438">
              <a:defRPr sz="8600">
                <a:solidFill>
                  <a:schemeClr val="tx1"/>
                </a:solidFill>
                <a:latin typeface="Arial" panose="020B0604020202020204" pitchFamily="34" charset="0"/>
              </a:defRPr>
            </a:lvl2pPr>
            <a:lvl3pPr marL="1143000" indent="-228600" defTabSz="4389438">
              <a:defRPr sz="8600">
                <a:solidFill>
                  <a:schemeClr val="tx1"/>
                </a:solidFill>
                <a:latin typeface="Arial" panose="020B0604020202020204" pitchFamily="34" charset="0"/>
              </a:defRPr>
            </a:lvl3pPr>
            <a:lvl4pPr marL="1600200" indent="-228600" defTabSz="4389438">
              <a:defRPr sz="8600">
                <a:solidFill>
                  <a:schemeClr val="tx1"/>
                </a:solidFill>
                <a:latin typeface="Arial" panose="020B0604020202020204" pitchFamily="34" charset="0"/>
              </a:defRPr>
            </a:lvl4pPr>
            <a:lvl5pPr marL="2057400" indent="-228600" defTabSz="4389438">
              <a:defRPr sz="8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8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8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8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8600">
                <a:solidFill>
                  <a:schemeClr val="tx1"/>
                </a:solidFill>
                <a:latin typeface="Arial" panose="020B0604020202020204" pitchFamily="34" charset="0"/>
              </a:defRPr>
            </a:lvl9pPr>
          </a:lstStyle>
          <a:p>
            <a:pPr algn="ctr" eaLnBrk="1" hangingPunct="1">
              <a:spcBef>
                <a:spcPct val="50000"/>
              </a:spcBef>
            </a:pPr>
            <a:r>
              <a:rPr lang="en-US" altLang="en-US" b="1"/>
              <a:t>Conclusions</a:t>
            </a:r>
          </a:p>
        </p:txBody>
      </p:sp>
      <p:sp>
        <p:nvSpPr>
          <p:cNvPr id="3081" name="AutoShape 13">
            <a:extLst>
              <a:ext uri="{FF2B5EF4-FFF2-40B4-BE49-F238E27FC236}">
                <a16:creationId xmlns:a16="http://schemas.microsoft.com/office/drawing/2014/main" id="{104E0F65-6F7A-F91A-A64D-737763350D31}"/>
              </a:ext>
            </a:extLst>
          </p:cNvPr>
          <p:cNvSpPr>
            <a:spLocks noChangeArrowheads="1"/>
          </p:cNvSpPr>
          <p:nvPr/>
        </p:nvSpPr>
        <p:spPr bwMode="auto">
          <a:xfrm>
            <a:off x="685800" y="381000"/>
            <a:ext cx="42519600" cy="5257800"/>
          </a:xfrm>
          <a:prstGeom prst="roundRect">
            <a:avLst>
              <a:gd name="adj" fmla="val 10870"/>
            </a:avLst>
          </a:prstGeom>
          <a:gradFill rotWithShape="1">
            <a:gsLst>
              <a:gs pos="0">
                <a:srgbClr val="A7C4FF"/>
              </a:gs>
              <a:gs pos="100000">
                <a:schemeClr val="bg1"/>
              </a:gs>
            </a:gsLst>
            <a:lin ang="5400000" scaled="1"/>
          </a:gradFill>
          <a:ln w="9525">
            <a:solidFill>
              <a:schemeClr val="tx1"/>
            </a:solidFill>
            <a:round/>
            <a:headEnd/>
            <a:tailEnd/>
          </a:ln>
        </p:spPr>
        <p:txBody>
          <a:bodyPr wrap="none" anchor="ctr"/>
          <a:lstStyle>
            <a:lvl1pPr defTabSz="4389438">
              <a:defRPr sz="8600">
                <a:solidFill>
                  <a:schemeClr val="tx1"/>
                </a:solidFill>
                <a:latin typeface="Arial" panose="020B0604020202020204" pitchFamily="34" charset="0"/>
              </a:defRPr>
            </a:lvl1pPr>
            <a:lvl2pPr marL="742950" indent="-285750" defTabSz="4389438">
              <a:defRPr sz="8600">
                <a:solidFill>
                  <a:schemeClr val="tx1"/>
                </a:solidFill>
                <a:latin typeface="Arial" panose="020B0604020202020204" pitchFamily="34" charset="0"/>
              </a:defRPr>
            </a:lvl2pPr>
            <a:lvl3pPr marL="1143000" indent="-228600" defTabSz="4389438">
              <a:defRPr sz="8600">
                <a:solidFill>
                  <a:schemeClr val="tx1"/>
                </a:solidFill>
                <a:latin typeface="Arial" panose="020B0604020202020204" pitchFamily="34" charset="0"/>
              </a:defRPr>
            </a:lvl3pPr>
            <a:lvl4pPr marL="1600200" indent="-228600" defTabSz="4389438">
              <a:defRPr sz="8600">
                <a:solidFill>
                  <a:schemeClr val="tx1"/>
                </a:solidFill>
                <a:latin typeface="Arial" panose="020B0604020202020204" pitchFamily="34" charset="0"/>
              </a:defRPr>
            </a:lvl4pPr>
            <a:lvl5pPr marL="2057400" indent="-228600" defTabSz="4389438">
              <a:defRPr sz="8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8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8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8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8600">
                <a:solidFill>
                  <a:schemeClr val="tx1"/>
                </a:solidFill>
                <a:latin typeface="Arial" panose="020B0604020202020204" pitchFamily="34" charset="0"/>
              </a:defRPr>
            </a:lvl9pPr>
          </a:lstStyle>
          <a:p>
            <a:pPr algn="ctr" eaLnBrk="1" hangingPunct="1"/>
            <a:endParaRPr lang="en-US" altLang="en-US">
              <a:solidFill>
                <a:schemeClr val="bg1"/>
              </a:solidFill>
            </a:endParaRPr>
          </a:p>
        </p:txBody>
      </p:sp>
      <p:sp>
        <p:nvSpPr>
          <p:cNvPr id="3082" name="Text Box 14">
            <a:extLst>
              <a:ext uri="{FF2B5EF4-FFF2-40B4-BE49-F238E27FC236}">
                <a16:creationId xmlns:a16="http://schemas.microsoft.com/office/drawing/2014/main" id="{659ABE07-1EED-DA00-EB03-8BE8DDBD0B5E}"/>
              </a:ext>
            </a:extLst>
          </p:cNvPr>
          <p:cNvSpPr txBox="1">
            <a:spLocks noChangeArrowheads="1"/>
          </p:cNvSpPr>
          <p:nvPr/>
        </p:nvSpPr>
        <p:spPr bwMode="auto">
          <a:xfrm>
            <a:off x="1304925" y="690563"/>
            <a:ext cx="40919400" cy="4078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defTabSz="4389438">
              <a:defRPr sz="8600">
                <a:solidFill>
                  <a:schemeClr val="tx1"/>
                </a:solidFill>
                <a:latin typeface="Arial" panose="020B0604020202020204" pitchFamily="34" charset="0"/>
              </a:defRPr>
            </a:lvl1pPr>
            <a:lvl2pPr marL="742950" indent="-285750" defTabSz="4389438">
              <a:defRPr sz="8600">
                <a:solidFill>
                  <a:schemeClr val="tx1"/>
                </a:solidFill>
                <a:latin typeface="Arial" panose="020B0604020202020204" pitchFamily="34" charset="0"/>
              </a:defRPr>
            </a:lvl2pPr>
            <a:lvl3pPr marL="1143000" indent="-228600" defTabSz="4389438">
              <a:defRPr sz="8600">
                <a:solidFill>
                  <a:schemeClr val="tx1"/>
                </a:solidFill>
                <a:latin typeface="Arial" panose="020B0604020202020204" pitchFamily="34" charset="0"/>
              </a:defRPr>
            </a:lvl3pPr>
            <a:lvl4pPr marL="1600200" indent="-228600" defTabSz="4389438">
              <a:defRPr sz="8600">
                <a:solidFill>
                  <a:schemeClr val="tx1"/>
                </a:solidFill>
                <a:latin typeface="Arial" panose="020B0604020202020204" pitchFamily="34" charset="0"/>
              </a:defRPr>
            </a:lvl4pPr>
            <a:lvl5pPr marL="2057400" indent="-228600" defTabSz="4389438">
              <a:defRPr sz="8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8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8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8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8600">
                <a:solidFill>
                  <a:schemeClr val="tx1"/>
                </a:solidFill>
                <a:latin typeface="Arial" panose="020B0604020202020204" pitchFamily="34" charset="0"/>
              </a:defRPr>
            </a:lvl9pPr>
          </a:lstStyle>
          <a:p>
            <a:pPr algn="ctr">
              <a:spcBef>
                <a:spcPct val="50000"/>
              </a:spcBef>
            </a:pPr>
            <a:r>
              <a:rPr lang="en-US" sz="12500" b="1">
                <a:latin typeface="Arial"/>
                <a:cs typeface="Arial"/>
              </a:rPr>
              <a:t>ECE1512 - Project A: Knowledge Distillation</a:t>
            </a:r>
            <a:endParaRPr lang="en-US" altLang="en-US" sz="12500" b="1">
              <a:latin typeface="Arial"/>
              <a:cs typeface="Arial"/>
            </a:endParaRPr>
          </a:p>
          <a:p>
            <a:pPr algn="ctr"/>
            <a:r>
              <a:rPr lang="en-US" b="1">
                <a:latin typeface="Arial"/>
                <a:cs typeface="Arial"/>
              </a:rPr>
              <a:t>Yiyang (Fred) Shi, Hsuan-Ling (Celene) Chen</a:t>
            </a:r>
          </a:p>
          <a:p>
            <a:pPr algn="ctr" eaLnBrk="1" hangingPunct="1"/>
            <a:r>
              <a:rPr lang="en-US" sz="4800" b="1" i="1">
                <a:latin typeface="Arial"/>
                <a:cs typeface="Arial"/>
              </a:rPr>
              <a:t>Department of Electrical and Computer Engineering</a:t>
            </a:r>
            <a:endParaRPr lang="en-US" altLang="en-US" sz="4800" b="1" i="1">
              <a:latin typeface="Arial"/>
              <a:cs typeface="Arial"/>
            </a:endParaRPr>
          </a:p>
        </p:txBody>
      </p:sp>
      <p:sp>
        <p:nvSpPr>
          <p:cNvPr id="3086" name="Text Box 27">
            <a:extLst>
              <a:ext uri="{FF2B5EF4-FFF2-40B4-BE49-F238E27FC236}">
                <a16:creationId xmlns:a16="http://schemas.microsoft.com/office/drawing/2014/main" id="{6A29DA28-742F-EF6D-3DD1-CE7AA0CD1408}"/>
              </a:ext>
            </a:extLst>
          </p:cNvPr>
          <p:cNvSpPr txBox="1">
            <a:spLocks noChangeArrowheads="1"/>
          </p:cNvSpPr>
          <p:nvPr/>
        </p:nvSpPr>
        <p:spPr bwMode="auto">
          <a:xfrm>
            <a:off x="34152766" y="24267111"/>
            <a:ext cx="83058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389438">
              <a:defRPr sz="8600">
                <a:solidFill>
                  <a:schemeClr val="tx1"/>
                </a:solidFill>
                <a:latin typeface="Arial" panose="020B0604020202020204" pitchFamily="34" charset="0"/>
              </a:defRPr>
            </a:lvl1pPr>
            <a:lvl2pPr marL="742950" indent="-285750" defTabSz="4389438">
              <a:defRPr sz="8600">
                <a:solidFill>
                  <a:schemeClr val="tx1"/>
                </a:solidFill>
                <a:latin typeface="Arial" panose="020B0604020202020204" pitchFamily="34" charset="0"/>
              </a:defRPr>
            </a:lvl2pPr>
            <a:lvl3pPr marL="1143000" indent="-228600" defTabSz="4389438">
              <a:defRPr sz="8600">
                <a:solidFill>
                  <a:schemeClr val="tx1"/>
                </a:solidFill>
                <a:latin typeface="Arial" panose="020B0604020202020204" pitchFamily="34" charset="0"/>
              </a:defRPr>
            </a:lvl3pPr>
            <a:lvl4pPr marL="1600200" indent="-228600" defTabSz="4389438">
              <a:defRPr sz="8600">
                <a:solidFill>
                  <a:schemeClr val="tx1"/>
                </a:solidFill>
                <a:latin typeface="Arial" panose="020B0604020202020204" pitchFamily="34" charset="0"/>
              </a:defRPr>
            </a:lvl4pPr>
            <a:lvl5pPr marL="2057400" indent="-228600" defTabSz="4389438">
              <a:defRPr sz="8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8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8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8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8600">
                <a:solidFill>
                  <a:schemeClr val="tx1"/>
                </a:solidFill>
                <a:latin typeface="Arial" panose="020B0604020202020204" pitchFamily="34" charset="0"/>
              </a:defRPr>
            </a:lvl9pPr>
          </a:lstStyle>
          <a:p>
            <a:pPr algn="ctr" eaLnBrk="1" hangingPunct="1">
              <a:spcBef>
                <a:spcPct val="50000"/>
              </a:spcBef>
            </a:pPr>
            <a:r>
              <a:rPr lang="en-US" altLang="en-US" sz="6500"/>
              <a:t>Bibliography</a:t>
            </a:r>
          </a:p>
        </p:txBody>
      </p:sp>
      <p:sp>
        <p:nvSpPr>
          <p:cNvPr id="3088" name="Text Box 36">
            <a:extLst>
              <a:ext uri="{FF2B5EF4-FFF2-40B4-BE49-F238E27FC236}">
                <a16:creationId xmlns:a16="http://schemas.microsoft.com/office/drawing/2014/main" id="{0E9C5B4F-1473-5E6C-F747-290C8B70C321}"/>
              </a:ext>
            </a:extLst>
          </p:cNvPr>
          <p:cNvSpPr txBox="1">
            <a:spLocks noChangeArrowheads="1"/>
          </p:cNvSpPr>
          <p:nvPr/>
        </p:nvSpPr>
        <p:spPr bwMode="auto">
          <a:xfrm>
            <a:off x="11770264" y="8753475"/>
            <a:ext cx="9423400" cy="200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mpd="thinThick">
                <a:solidFill>
                  <a:srgbClr val="000000"/>
                </a:solidFill>
                <a:miter lim="800000"/>
                <a:headEnd/>
                <a:tailEnd/>
              </a14:hiddenLine>
            </a:ext>
          </a:extLst>
        </p:spPr>
        <p:txBody>
          <a:bodyPr lIns="61170" tIns="30584" rIns="61170" bIns="30584" anchor="t">
            <a:spAutoFit/>
          </a:bodyPr>
          <a:lstStyle>
            <a:lvl1pPr defTabSz="612775">
              <a:defRPr sz="8600">
                <a:solidFill>
                  <a:schemeClr val="tx1"/>
                </a:solidFill>
                <a:latin typeface="Arial" panose="020B0604020202020204" pitchFamily="34" charset="0"/>
              </a:defRPr>
            </a:lvl1pPr>
            <a:lvl2pPr marL="742950" indent="-285750" defTabSz="612775">
              <a:defRPr sz="8600">
                <a:solidFill>
                  <a:schemeClr val="tx1"/>
                </a:solidFill>
                <a:latin typeface="Arial" panose="020B0604020202020204" pitchFamily="34" charset="0"/>
              </a:defRPr>
            </a:lvl2pPr>
            <a:lvl3pPr marL="1143000" indent="-228600" defTabSz="612775">
              <a:defRPr sz="8600">
                <a:solidFill>
                  <a:schemeClr val="tx1"/>
                </a:solidFill>
                <a:latin typeface="Arial" panose="020B0604020202020204" pitchFamily="34" charset="0"/>
              </a:defRPr>
            </a:lvl3pPr>
            <a:lvl4pPr marL="1600200" indent="-228600" defTabSz="612775">
              <a:defRPr sz="8600">
                <a:solidFill>
                  <a:schemeClr val="tx1"/>
                </a:solidFill>
                <a:latin typeface="Arial" panose="020B0604020202020204" pitchFamily="34" charset="0"/>
              </a:defRPr>
            </a:lvl4pPr>
            <a:lvl5pPr marL="2057400" indent="-228600" defTabSz="612775">
              <a:defRPr sz="8600">
                <a:solidFill>
                  <a:schemeClr val="tx1"/>
                </a:solidFill>
                <a:latin typeface="Arial" panose="020B0604020202020204" pitchFamily="34" charset="0"/>
              </a:defRPr>
            </a:lvl5pPr>
            <a:lvl6pPr marL="2514600" indent="-228600" defTabSz="612775" eaLnBrk="0" fontAlgn="base" hangingPunct="0">
              <a:spcBef>
                <a:spcPct val="0"/>
              </a:spcBef>
              <a:spcAft>
                <a:spcPct val="0"/>
              </a:spcAft>
              <a:defRPr sz="8600">
                <a:solidFill>
                  <a:schemeClr val="tx1"/>
                </a:solidFill>
                <a:latin typeface="Arial" panose="020B0604020202020204" pitchFamily="34" charset="0"/>
              </a:defRPr>
            </a:lvl6pPr>
            <a:lvl7pPr marL="2971800" indent="-228600" defTabSz="612775" eaLnBrk="0" fontAlgn="base" hangingPunct="0">
              <a:spcBef>
                <a:spcPct val="0"/>
              </a:spcBef>
              <a:spcAft>
                <a:spcPct val="0"/>
              </a:spcAft>
              <a:defRPr sz="8600">
                <a:solidFill>
                  <a:schemeClr val="tx1"/>
                </a:solidFill>
                <a:latin typeface="Arial" panose="020B0604020202020204" pitchFamily="34" charset="0"/>
              </a:defRPr>
            </a:lvl7pPr>
            <a:lvl8pPr marL="3429000" indent="-228600" defTabSz="612775" eaLnBrk="0" fontAlgn="base" hangingPunct="0">
              <a:spcBef>
                <a:spcPct val="0"/>
              </a:spcBef>
              <a:spcAft>
                <a:spcPct val="0"/>
              </a:spcAft>
              <a:defRPr sz="8600">
                <a:solidFill>
                  <a:schemeClr val="tx1"/>
                </a:solidFill>
                <a:latin typeface="Arial" panose="020B0604020202020204" pitchFamily="34" charset="0"/>
              </a:defRPr>
            </a:lvl8pPr>
            <a:lvl9pPr marL="3886200" indent="-228600" defTabSz="612775" eaLnBrk="0" fontAlgn="base" hangingPunct="0">
              <a:spcBef>
                <a:spcPct val="0"/>
              </a:spcBef>
              <a:spcAft>
                <a:spcPct val="0"/>
              </a:spcAft>
              <a:defRPr sz="8600">
                <a:solidFill>
                  <a:schemeClr val="tx1"/>
                </a:solidFill>
                <a:latin typeface="Arial" panose="020B0604020202020204" pitchFamily="34" charset="0"/>
              </a:defRPr>
            </a:lvl9pPr>
          </a:lstStyle>
          <a:p>
            <a:pPr>
              <a:lnSpc>
                <a:spcPct val="95000"/>
              </a:lnSpc>
            </a:pPr>
            <a:r>
              <a:rPr lang="en-US" altLang="en-US" sz="2700">
                <a:latin typeface="Arial"/>
                <a:cs typeface="Times New Roman"/>
              </a:rPr>
              <a:t>To quantitatively measure the effectiveness of knowledge distillation, we selected a cumbersome teacher model and a lightweight student model to perform distillation on MNIST dataset </a:t>
            </a:r>
            <a:r>
              <a:rPr lang="en-US" altLang="en-US" sz="2700">
                <a:latin typeface="Arial"/>
                <a:cs typeface="Arial"/>
              </a:rPr>
              <a:t>first</a:t>
            </a:r>
            <a:r>
              <a:rPr lang="en-US" altLang="en-US" sz="2700">
                <a:latin typeface="Arial"/>
                <a:cs typeface="Times New Roman"/>
              </a:rPr>
              <a:t>. </a:t>
            </a:r>
          </a:p>
          <a:p>
            <a:endParaRPr lang="en-US" altLang="en-US" sz="2000">
              <a:latin typeface="Times New Roman" panose="02020603050405020304" pitchFamily="18" charset="0"/>
              <a:cs typeface="Times New Roman" panose="02020603050405020304" pitchFamily="18" charset="0"/>
            </a:endParaRPr>
          </a:p>
        </p:txBody>
      </p:sp>
      <p:sp>
        <p:nvSpPr>
          <p:cNvPr id="3089" name="Text Box 38">
            <a:extLst>
              <a:ext uri="{FF2B5EF4-FFF2-40B4-BE49-F238E27FC236}">
                <a16:creationId xmlns:a16="http://schemas.microsoft.com/office/drawing/2014/main" id="{39759B5A-0B61-DFFE-CB25-F03FD6A1105F}"/>
              </a:ext>
            </a:extLst>
          </p:cNvPr>
          <p:cNvSpPr txBox="1">
            <a:spLocks noChangeArrowheads="1"/>
          </p:cNvSpPr>
          <p:nvPr/>
        </p:nvSpPr>
        <p:spPr bwMode="auto">
          <a:xfrm>
            <a:off x="33708975" y="25619291"/>
            <a:ext cx="9186863" cy="7020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mpd="thinThick">
                <a:solidFill>
                  <a:srgbClr val="000000"/>
                </a:solidFill>
                <a:miter lim="800000"/>
                <a:headEnd/>
                <a:tailEnd/>
              </a14:hiddenLine>
            </a:ext>
          </a:extLst>
        </p:spPr>
        <p:txBody>
          <a:bodyPr lIns="61170" tIns="30584" rIns="61170" bIns="30584" anchor="t">
            <a:spAutoFit/>
          </a:bodyPr>
          <a:lstStyle>
            <a:lvl1pPr marL="342900" indent="-342900" defTabSz="612775">
              <a:defRPr sz="8600">
                <a:solidFill>
                  <a:schemeClr val="tx1"/>
                </a:solidFill>
                <a:latin typeface="Arial" panose="020B0604020202020204" pitchFamily="34" charset="0"/>
              </a:defRPr>
            </a:lvl1pPr>
            <a:lvl2pPr marL="742950" indent="-285750" defTabSz="612775">
              <a:defRPr sz="8600">
                <a:solidFill>
                  <a:schemeClr val="tx1"/>
                </a:solidFill>
                <a:latin typeface="Arial" panose="020B0604020202020204" pitchFamily="34" charset="0"/>
              </a:defRPr>
            </a:lvl2pPr>
            <a:lvl3pPr marL="1143000" indent="-228600" defTabSz="612775">
              <a:defRPr sz="8600">
                <a:solidFill>
                  <a:schemeClr val="tx1"/>
                </a:solidFill>
                <a:latin typeface="Arial" panose="020B0604020202020204" pitchFamily="34" charset="0"/>
              </a:defRPr>
            </a:lvl3pPr>
            <a:lvl4pPr marL="1600200" indent="-228600" defTabSz="612775">
              <a:defRPr sz="8600">
                <a:solidFill>
                  <a:schemeClr val="tx1"/>
                </a:solidFill>
                <a:latin typeface="Arial" panose="020B0604020202020204" pitchFamily="34" charset="0"/>
              </a:defRPr>
            </a:lvl4pPr>
            <a:lvl5pPr marL="2057400" indent="-228600" defTabSz="612775">
              <a:defRPr sz="8600">
                <a:solidFill>
                  <a:schemeClr val="tx1"/>
                </a:solidFill>
                <a:latin typeface="Arial" panose="020B0604020202020204" pitchFamily="34" charset="0"/>
              </a:defRPr>
            </a:lvl5pPr>
            <a:lvl6pPr marL="2514600" indent="-228600" defTabSz="612775" eaLnBrk="0" fontAlgn="base" hangingPunct="0">
              <a:spcBef>
                <a:spcPct val="0"/>
              </a:spcBef>
              <a:spcAft>
                <a:spcPct val="0"/>
              </a:spcAft>
              <a:defRPr sz="8600">
                <a:solidFill>
                  <a:schemeClr val="tx1"/>
                </a:solidFill>
                <a:latin typeface="Arial" panose="020B0604020202020204" pitchFamily="34" charset="0"/>
              </a:defRPr>
            </a:lvl6pPr>
            <a:lvl7pPr marL="2971800" indent="-228600" defTabSz="612775" eaLnBrk="0" fontAlgn="base" hangingPunct="0">
              <a:spcBef>
                <a:spcPct val="0"/>
              </a:spcBef>
              <a:spcAft>
                <a:spcPct val="0"/>
              </a:spcAft>
              <a:defRPr sz="8600">
                <a:solidFill>
                  <a:schemeClr val="tx1"/>
                </a:solidFill>
                <a:latin typeface="Arial" panose="020B0604020202020204" pitchFamily="34" charset="0"/>
              </a:defRPr>
            </a:lvl7pPr>
            <a:lvl8pPr marL="3429000" indent="-228600" defTabSz="612775" eaLnBrk="0" fontAlgn="base" hangingPunct="0">
              <a:spcBef>
                <a:spcPct val="0"/>
              </a:spcBef>
              <a:spcAft>
                <a:spcPct val="0"/>
              </a:spcAft>
              <a:defRPr sz="8600">
                <a:solidFill>
                  <a:schemeClr val="tx1"/>
                </a:solidFill>
                <a:latin typeface="Arial" panose="020B0604020202020204" pitchFamily="34" charset="0"/>
              </a:defRPr>
            </a:lvl8pPr>
            <a:lvl9pPr marL="3886200" indent="-228600" defTabSz="612775" eaLnBrk="0" fontAlgn="base" hangingPunct="0">
              <a:spcBef>
                <a:spcPct val="0"/>
              </a:spcBef>
              <a:spcAft>
                <a:spcPct val="0"/>
              </a:spcAft>
              <a:defRPr sz="8600">
                <a:solidFill>
                  <a:schemeClr val="tx1"/>
                </a:solidFill>
                <a:latin typeface="Arial" panose="020B0604020202020204" pitchFamily="34" charset="0"/>
              </a:defRPr>
            </a:lvl9pPr>
          </a:lstStyle>
          <a:p>
            <a:pPr marL="514350" indent="-514350">
              <a:lnSpc>
                <a:spcPct val="95000"/>
              </a:lnSpc>
              <a:buAutoNum type="arabicPeriod"/>
            </a:pPr>
            <a:r>
              <a:rPr lang="en-US" sz="2800" dirty="0">
                <a:latin typeface="Arial"/>
                <a:cs typeface="Arial"/>
              </a:rPr>
              <a:t>Geoffrey Hinton, Oriol </a:t>
            </a:r>
            <a:r>
              <a:rPr lang="en-US" sz="2800" dirty="0" err="1">
                <a:latin typeface="Arial"/>
                <a:cs typeface="Arial"/>
              </a:rPr>
              <a:t>Vinyals</a:t>
            </a:r>
            <a:r>
              <a:rPr lang="en-US" sz="2800" dirty="0">
                <a:latin typeface="Arial"/>
                <a:cs typeface="Arial"/>
              </a:rPr>
              <a:t>, Jeff Dean, et al. Distilling the knowledge in a neural network. </a:t>
            </a:r>
            <a:r>
              <a:rPr lang="en-US" sz="2800" dirty="0" err="1">
                <a:latin typeface="Arial"/>
                <a:cs typeface="Arial"/>
              </a:rPr>
              <a:t>arXiv</a:t>
            </a:r>
            <a:r>
              <a:rPr lang="en-US" sz="2800" dirty="0">
                <a:latin typeface="Arial"/>
                <a:cs typeface="Arial"/>
              </a:rPr>
              <a:t> preprint arXiv:1503.02531, 2(7), 2015. </a:t>
            </a:r>
            <a:r>
              <a:rPr lang="en-US" sz="2800" dirty="0">
                <a:latin typeface="Arial"/>
                <a:cs typeface="Arial"/>
                <a:hlinkClick r:id="rId3"/>
              </a:rPr>
              <a:t>https://arxiv.org/abs/1503.02531</a:t>
            </a:r>
            <a:r>
              <a:rPr lang="en-US" sz="2800" dirty="0">
                <a:latin typeface="Arial"/>
                <a:cs typeface="Arial"/>
              </a:rPr>
              <a:t>. </a:t>
            </a:r>
            <a:endParaRPr lang="en-US" sz="2800">
              <a:cs typeface="Arial"/>
            </a:endParaRPr>
          </a:p>
          <a:p>
            <a:pPr marL="514350" indent="-514350">
              <a:lnSpc>
                <a:spcPct val="95000"/>
              </a:lnSpc>
              <a:buAutoNum type="arabicPeriod"/>
            </a:pPr>
            <a:r>
              <a:rPr lang="en-US" sz="2800" dirty="0">
                <a:latin typeface="Arial"/>
                <a:cs typeface="Arial"/>
              </a:rPr>
              <a:t>Rafael </a:t>
            </a:r>
            <a:r>
              <a:rPr lang="en-US" sz="2800" dirty="0" err="1">
                <a:latin typeface="Arial"/>
                <a:cs typeface="Arial"/>
              </a:rPr>
              <a:t>M̈uller</a:t>
            </a:r>
            <a:r>
              <a:rPr lang="en-US" sz="2800" dirty="0">
                <a:latin typeface="Arial"/>
                <a:cs typeface="Arial"/>
              </a:rPr>
              <a:t>, Simon </a:t>
            </a:r>
            <a:r>
              <a:rPr lang="en-US" sz="2800" dirty="0" err="1">
                <a:latin typeface="Arial"/>
                <a:cs typeface="Arial"/>
              </a:rPr>
              <a:t>Kornblith</a:t>
            </a:r>
            <a:r>
              <a:rPr lang="en-US" sz="2800" dirty="0">
                <a:latin typeface="Arial"/>
                <a:cs typeface="Arial"/>
              </a:rPr>
              <a:t>, and Geoffrey Hinton. “Subclass distillation”. In: </a:t>
            </a:r>
            <a:r>
              <a:rPr lang="en-US" sz="2800" dirty="0" err="1">
                <a:latin typeface="Arial"/>
                <a:cs typeface="Arial"/>
              </a:rPr>
              <a:t>arXiv</a:t>
            </a:r>
            <a:br>
              <a:rPr lang="en-US" sz="2800" dirty="0">
                <a:latin typeface="Arial"/>
                <a:cs typeface="Arial"/>
              </a:rPr>
            </a:br>
            <a:r>
              <a:rPr lang="en-US" sz="2800" dirty="0">
                <a:latin typeface="Arial"/>
                <a:cs typeface="Arial"/>
              </a:rPr>
              <a:t>preprint arXiv:2002.03936 (2020)</a:t>
            </a:r>
          </a:p>
          <a:p>
            <a:pPr marL="514350" indent="-514350">
              <a:lnSpc>
                <a:spcPct val="95000"/>
              </a:lnSpc>
              <a:buAutoNum type="arabicPeriod"/>
            </a:pPr>
            <a:r>
              <a:rPr lang="en-US" sz="2800" dirty="0">
                <a:latin typeface="Arial"/>
                <a:cs typeface="Arial"/>
              </a:rPr>
              <a:t>D. (D. J. Sarkar, “A comprehensive hands-on guide to transfer learning with real-world applications in Deep learning,” </a:t>
            </a:r>
            <a:r>
              <a:rPr lang="en-US" sz="2800" i="1" dirty="0">
                <a:latin typeface="Arial"/>
                <a:cs typeface="Arial"/>
              </a:rPr>
              <a:t>Medium</a:t>
            </a:r>
            <a:r>
              <a:rPr lang="en-US" sz="2800" dirty="0">
                <a:latin typeface="Arial"/>
                <a:cs typeface="Arial"/>
              </a:rPr>
              <a:t>, 17-Nov-2018. [Online]. Available: </a:t>
            </a:r>
            <a:r>
              <a:rPr lang="en-US" sz="2800" dirty="0">
                <a:latin typeface="Arial"/>
                <a:cs typeface="Arial"/>
                <a:hlinkClick r:id="rId4"/>
              </a:rPr>
              <a:t>https://towardsdatascience.com/a-comprehensive-hands-on-guide-to-transfer-learning-with-real-world-applications-in-deep-learning-212bf3b2f27a</a:t>
            </a:r>
            <a:r>
              <a:rPr lang="en-US" sz="2800" dirty="0">
                <a:latin typeface="Arial"/>
                <a:cs typeface="Arial"/>
              </a:rPr>
              <a:t>. [Accessed: 14-Dec-2022]. </a:t>
            </a:r>
          </a:p>
          <a:p>
            <a:pPr>
              <a:lnSpc>
                <a:spcPct val="95000"/>
              </a:lnSpc>
              <a:buFontTx/>
              <a:buAutoNum type="arabicPeriod"/>
            </a:pPr>
            <a:endParaRPr lang="en-US" sz="2800">
              <a:latin typeface="Arial"/>
              <a:cs typeface="Arial"/>
            </a:endParaRPr>
          </a:p>
          <a:p>
            <a:pPr>
              <a:lnSpc>
                <a:spcPct val="95000"/>
              </a:lnSpc>
              <a:buFontTx/>
              <a:buAutoNum type="arabicPeriod"/>
            </a:pPr>
            <a:endParaRPr lang="en-US" sz="2800" dirty="0">
              <a:latin typeface="Arial"/>
              <a:cs typeface="Arial"/>
            </a:endParaRPr>
          </a:p>
          <a:p>
            <a:pPr>
              <a:lnSpc>
                <a:spcPct val="95000"/>
              </a:lnSpc>
              <a:buFont typeface="Symbol" panose="05050102010706020507" pitchFamily="18" charset="2"/>
              <a:buAutoNum type="arabicPeriod"/>
            </a:pPr>
            <a:endParaRPr lang="en-US" altLang="en-US" sz="2800" b="1">
              <a:latin typeface="Times New Roman" panose="02020603050405020304" pitchFamily="18" charset="0"/>
              <a:cs typeface="Times New Roman" panose="02020603050405020304" pitchFamily="18" charset="0"/>
            </a:endParaRPr>
          </a:p>
        </p:txBody>
      </p:sp>
      <p:sp>
        <p:nvSpPr>
          <p:cNvPr id="3091" name="Text Box 40">
            <a:extLst>
              <a:ext uri="{FF2B5EF4-FFF2-40B4-BE49-F238E27FC236}">
                <a16:creationId xmlns:a16="http://schemas.microsoft.com/office/drawing/2014/main" id="{5872EAE5-2735-D0D0-6571-A432EC018F5A}"/>
              </a:ext>
            </a:extLst>
          </p:cNvPr>
          <p:cNvSpPr txBox="1">
            <a:spLocks noChangeArrowheads="1"/>
          </p:cNvSpPr>
          <p:nvPr/>
        </p:nvSpPr>
        <p:spPr bwMode="auto">
          <a:xfrm>
            <a:off x="33816956" y="8751768"/>
            <a:ext cx="9051746" cy="13668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mpd="thinThick">
                <a:solidFill>
                  <a:srgbClr val="000000"/>
                </a:solidFill>
                <a:miter lim="800000"/>
                <a:headEnd/>
                <a:tailEnd/>
              </a14:hiddenLine>
            </a:ext>
          </a:extLst>
        </p:spPr>
        <p:txBody>
          <a:bodyPr wrap="square" lIns="61170" tIns="30584" rIns="61170" bIns="30584" anchor="t">
            <a:spAutoFit/>
          </a:bodyPr>
          <a:lstStyle>
            <a:lvl1pPr defTabSz="612775">
              <a:defRPr sz="8600">
                <a:solidFill>
                  <a:schemeClr val="tx1"/>
                </a:solidFill>
                <a:latin typeface="Arial" panose="020B0604020202020204" pitchFamily="34" charset="0"/>
              </a:defRPr>
            </a:lvl1pPr>
            <a:lvl2pPr marL="742950" indent="-285750" defTabSz="612775">
              <a:defRPr sz="8600">
                <a:solidFill>
                  <a:schemeClr val="tx1"/>
                </a:solidFill>
                <a:latin typeface="Arial" panose="020B0604020202020204" pitchFamily="34" charset="0"/>
              </a:defRPr>
            </a:lvl2pPr>
            <a:lvl3pPr marL="1143000" indent="-228600" defTabSz="612775">
              <a:defRPr sz="8600">
                <a:solidFill>
                  <a:schemeClr val="tx1"/>
                </a:solidFill>
                <a:latin typeface="Arial" panose="020B0604020202020204" pitchFamily="34" charset="0"/>
              </a:defRPr>
            </a:lvl3pPr>
            <a:lvl4pPr marL="1600200" indent="-228600" defTabSz="612775">
              <a:defRPr sz="8600">
                <a:solidFill>
                  <a:schemeClr val="tx1"/>
                </a:solidFill>
                <a:latin typeface="Arial" panose="020B0604020202020204" pitchFamily="34" charset="0"/>
              </a:defRPr>
            </a:lvl4pPr>
            <a:lvl5pPr marL="2057400" indent="-228600" defTabSz="612775">
              <a:defRPr sz="8600">
                <a:solidFill>
                  <a:schemeClr val="tx1"/>
                </a:solidFill>
                <a:latin typeface="Arial" panose="020B0604020202020204" pitchFamily="34" charset="0"/>
              </a:defRPr>
            </a:lvl5pPr>
            <a:lvl6pPr marL="2514600" indent="-228600" defTabSz="612775" eaLnBrk="0" fontAlgn="base" hangingPunct="0">
              <a:spcBef>
                <a:spcPct val="0"/>
              </a:spcBef>
              <a:spcAft>
                <a:spcPct val="0"/>
              </a:spcAft>
              <a:defRPr sz="8600">
                <a:solidFill>
                  <a:schemeClr val="tx1"/>
                </a:solidFill>
                <a:latin typeface="Arial" panose="020B0604020202020204" pitchFamily="34" charset="0"/>
              </a:defRPr>
            </a:lvl6pPr>
            <a:lvl7pPr marL="2971800" indent="-228600" defTabSz="612775" eaLnBrk="0" fontAlgn="base" hangingPunct="0">
              <a:spcBef>
                <a:spcPct val="0"/>
              </a:spcBef>
              <a:spcAft>
                <a:spcPct val="0"/>
              </a:spcAft>
              <a:defRPr sz="8600">
                <a:solidFill>
                  <a:schemeClr val="tx1"/>
                </a:solidFill>
                <a:latin typeface="Arial" panose="020B0604020202020204" pitchFamily="34" charset="0"/>
              </a:defRPr>
            </a:lvl7pPr>
            <a:lvl8pPr marL="3429000" indent="-228600" defTabSz="612775" eaLnBrk="0" fontAlgn="base" hangingPunct="0">
              <a:spcBef>
                <a:spcPct val="0"/>
              </a:spcBef>
              <a:spcAft>
                <a:spcPct val="0"/>
              </a:spcAft>
              <a:defRPr sz="8600">
                <a:solidFill>
                  <a:schemeClr val="tx1"/>
                </a:solidFill>
                <a:latin typeface="Arial" panose="020B0604020202020204" pitchFamily="34" charset="0"/>
              </a:defRPr>
            </a:lvl8pPr>
            <a:lvl9pPr marL="3886200" indent="-228600" defTabSz="612775" eaLnBrk="0" fontAlgn="base" hangingPunct="0">
              <a:spcBef>
                <a:spcPct val="0"/>
              </a:spcBef>
              <a:spcAft>
                <a:spcPct val="0"/>
              </a:spcAft>
              <a:defRPr sz="8600">
                <a:solidFill>
                  <a:schemeClr val="tx1"/>
                </a:solidFill>
                <a:latin typeface="Arial" panose="020B0604020202020204" pitchFamily="34" charset="0"/>
              </a:defRPr>
            </a:lvl9pPr>
          </a:lstStyle>
          <a:p>
            <a:r>
              <a:rPr lang="en-US" sz="2800">
                <a:latin typeface="Arial"/>
                <a:cs typeface="Arial"/>
              </a:rPr>
              <a:t>The setting of Knowledge distillation as a model compression technique can be successfully used to transfer knowledge from a larger model to a smaller one that can be used practically in real-world settings. </a:t>
            </a:r>
            <a:endParaRPr lang="en-US">
              <a:cs typeface="Arial" panose="020B0604020202020204" pitchFamily="34" charset="0"/>
            </a:endParaRPr>
          </a:p>
          <a:p>
            <a:endParaRPr lang="en-US" sz="2800">
              <a:latin typeface="Arial"/>
              <a:cs typeface="Arial"/>
            </a:endParaRPr>
          </a:p>
          <a:p>
            <a:r>
              <a:rPr lang="en-US" sz="2800">
                <a:latin typeface="Arial"/>
                <a:cs typeface="Arial"/>
              </a:rPr>
              <a:t>The work from the first task showed that the performance of the student model has been increased by 0.74% by knowledge distillation while maintaining its size on the digit classification dataset, “MNIST”</a:t>
            </a:r>
          </a:p>
          <a:p>
            <a:endParaRPr lang="en-US" sz="2800">
              <a:latin typeface="Arial"/>
              <a:cs typeface="Arial"/>
            </a:endParaRPr>
          </a:p>
          <a:p>
            <a:pPr>
              <a:lnSpc>
                <a:spcPct val="95000"/>
              </a:lnSpc>
            </a:pPr>
            <a:r>
              <a:rPr lang="en-US" sz="2800">
                <a:latin typeface="Arial"/>
                <a:cs typeface="Arial"/>
              </a:rPr>
              <a:t>The results in the second task showed that using the guidance from a larger pre-trained network and fine-tuning, this helped the student model to achieve a better validation performance by 17.54% on the clinical histopathology dataset, “MHIST”.</a:t>
            </a:r>
            <a:endParaRPr lang="en-US">
              <a:cs typeface="Arial" panose="020B0604020202020204" pitchFamily="34" charset="0"/>
            </a:endParaRPr>
          </a:p>
          <a:p>
            <a:pPr>
              <a:lnSpc>
                <a:spcPct val="95000"/>
              </a:lnSpc>
            </a:pPr>
            <a:endParaRPr lang="en-US" sz="2800">
              <a:latin typeface="Arial"/>
              <a:cs typeface="Arial"/>
            </a:endParaRPr>
          </a:p>
          <a:p>
            <a:pPr>
              <a:lnSpc>
                <a:spcPct val="95000"/>
              </a:lnSpc>
            </a:pPr>
            <a:r>
              <a:rPr lang="en-US" sz="2800">
                <a:latin typeface="Arial"/>
                <a:cs typeface="Arial"/>
              </a:rPr>
              <a:t>To further quantify the distillation performance and test the method capabilities across different objectives and datasets, a few areas of investigation should be considered for improvements. With consideration of time and resource, we should</a:t>
            </a:r>
          </a:p>
          <a:p>
            <a:pPr>
              <a:lnSpc>
                <a:spcPct val="95000"/>
              </a:lnSpc>
            </a:pPr>
            <a:endParaRPr lang="en-US" sz="2800">
              <a:latin typeface="Arial"/>
              <a:cs typeface="Arial"/>
            </a:endParaRPr>
          </a:p>
          <a:p>
            <a:pPr marL="457200" indent="-457200">
              <a:lnSpc>
                <a:spcPct val="95000"/>
              </a:lnSpc>
              <a:buFont typeface="Arial"/>
              <a:buChar char="•"/>
            </a:pPr>
            <a:r>
              <a:rPr lang="en-US" sz="2800">
                <a:latin typeface="Arial"/>
                <a:cs typeface="Arial"/>
              </a:rPr>
              <a:t>Test distillation methods on a high-resolution dataset such as ImageNet subsets.</a:t>
            </a:r>
          </a:p>
          <a:p>
            <a:pPr marL="457200" indent="-457200">
              <a:lnSpc>
                <a:spcPct val="95000"/>
              </a:lnSpc>
              <a:buFont typeface="Arial"/>
              <a:buChar char="•"/>
            </a:pPr>
            <a:endParaRPr lang="en-US" sz="2800">
              <a:latin typeface="Arial"/>
              <a:cs typeface="Arial"/>
            </a:endParaRPr>
          </a:p>
          <a:p>
            <a:pPr marL="457200" indent="-457200">
              <a:lnSpc>
                <a:spcPct val="95000"/>
              </a:lnSpc>
              <a:buFont typeface="Arial"/>
              <a:buChar char="•"/>
            </a:pPr>
            <a:r>
              <a:rPr lang="en-US" sz="2800">
                <a:latin typeface="Arial"/>
                <a:cs typeface="Arial"/>
              </a:rPr>
              <a:t>Modify the loss function and apply concepts on a model with different learning objective, such as object detection or segmentation.</a:t>
            </a:r>
          </a:p>
          <a:p>
            <a:pPr marL="457200" indent="-457200">
              <a:lnSpc>
                <a:spcPct val="95000"/>
              </a:lnSpc>
              <a:buFont typeface="Arial"/>
              <a:buChar char="•"/>
            </a:pPr>
            <a:endParaRPr lang="en-US" sz="2800">
              <a:latin typeface="Arial"/>
              <a:cs typeface="Arial"/>
            </a:endParaRPr>
          </a:p>
          <a:p>
            <a:pPr marL="457200" indent="-457200">
              <a:lnSpc>
                <a:spcPct val="95000"/>
              </a:lnSpc>
              <a:buFont typeface="Arial"/>
              <a:buChar char="•"/>
            </a:pPr>
            <a:endParaRPr lang="en-US" sz="2800">
              <a:latin typeface="Arial"/>
              <a:cs typeface="Arial"/>
            </a:endParaRPr>
          </a:p>
          <a:p>
            <a:pPr>
              <a:lnSpc>
                <a:spcPct val="95000"/>
              </a:lnSpc>
            </a:pPr>
            <a:endParaRPr lang="en-US" sz="2800">
              <a:latin typeface="Arial"/>
              <a:cs typeface="Arial"/>
            </a:endParaRPr>
          </a:p>
          <a:p>
            <a:pPr>
              <a:lnSpc>
                <a:spcPct val="95000"/>
              </a:lnSpc>
            </a:pPr>
            <a:endParaRPr lang="en-US" sz="2800">
              <a:latin typeface="Arial"/>
              <a:cs typeface="Arial"/>
            </a:endParaRPr>
          </a:p>
          <a:p>
            <a:pPr>
              <a:lnSpc>
                <a:spcPct val="95000"/>
              </a:lnSpc>
            </a:pPr>
            <a:endParaRPr lang="en-US" altLang="en-US" sz="2000">
              <a:latin typeface="Times New Roman" panose="02020603050405020304" pitchFamily="18" charset="0"/>
              <a:cs typeface="Times New Roman" panose="02020603050405020304" pitchFamily="18" charset="0"/>
            </a:endParaRPr>
          </a:p>
        </p:txBody>
      </p:sp>
      <p:sp>
        <p:nvSpPr>
          <p:cNvPr id="3092" name="Text Box 42">
            <a:extLst>
              <a:ext uri="{FF2B5EF4-FFF2-40B4-BE49-F238E27FC236}">
                <a16:creationId xmlns:a16="http://schemas.microsoft.com/office/drawing/2014/main" id="{20272F96-AFDB-D210-6388-7BFA244A5A8F}"/>
              </a:ext>
            </a:extLst>
          </p:cNvPr>
          <p:cNvSpPr txBox="1">
            <a:spLocks noChangeArrowheads="1"/>
          </p:cNvSpPr>
          <p:nvPr/>
        </p:nvSpPr>
        <p:spPr bwMode="auto">
          <a:xfrm>
            <a:off x="366713" y="6553200"/>
            <a:ext cx="9829800"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389438">
              <a:defRPr sz="8600">
                <a:solidFill>
                  <a:schemeClr val="tx1"/>
                </a:solidFill>
                <a:latin typeface="Arial" panose="020B0604020202020204" pitchFamily="34" charset="0"/>
              </a:defRPr>
            </a:lvl1pPr>
            <a:lvl2pPr marL="742950" indent="-285750" defTabSz="4389438">
              <a:defRPr sz="8600">
                <a:solidFill>
                  <a:schemeClr val="tx1"/>
                </a:solidFill>
                <a:latin typeface="Arial" panose="020B0604020202020204" pitchFamily="34" charset="0"/>
              </a:defRPr>
            </a:lvl2pPr>
            <a:lvl3pPr marL="1143000" indent="-228600" defTabSz="4389438">
              <a:defRPr sz="8600">
                <a:solidFill>
                  <a:schemeClr val="tx1"/>
                </a:solidFill>
                <a:latin typeface="Arial" panose="020B0604020202020204" pitchFamily="34" charset="0"/>
              </a:defRPr>
            </a:lvl3pPr>
            <a:lvl4pPr marL="1600200" indent="-228600" defTabSz="4389438">
              <a:defRPr sz="8600">
                <a:solidFill>
                  <a:schemeClr val="tx1"/>
                </a:solidFill>
                <a:latin typeface="Arial" panose="020B0604020202020204" pitchFamily="34" charset="0"/>
              </a:defRPr>
            </a:lvl4pPr>
            <a:lvl5pPr marL="2057400" indent="-228600" defTabSz="4389438">
              <a:defRPr sz="8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8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8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8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8600">
                <a:solidFill>
                  <a:schemeClr val="tx1"/>
                </a:solidFill>
                <a:latin typeface="Arial" panose="020B0604020202020204" pitchFamily="34" charset="0"/>
              </a:defRPr>
            </a:lvl9pPr>
          </a:lstStyle>
          <a:p>
            <a:pPr algn="ctr" eaLnBrk="1" hangingPunct="1">
              <a:spcBef>
                <a:spcPct val="50000"/>
              </a:spcBef>
            </a:pPr>
            <a:r>
              <a:rPr lang="en-US" altLang="en-US" b="1"/>
              <a:t>Introduction</a:t>
            </a:r>
          </a:p>
        </p:txBody>
      </p:sp>
      <p:sp>
        <p:nvSpPr>
          <p:cNvPr id="3093" name="Text Box 43">
            <a:extLst>
              <a:ext uri="{FF2B5EF4-FFF2-40B4-BE49-F238E27FC236}">
                <a16:creationId xmlns:a16="http://schemas.microsoft.com/office/drawing/2014/main" id="{D7292426-2C27-BED8-27A3-1B4293515B42}"/>
              </a:ext>
            </a:extLst>
          </p:cNvPr>
          <p:cNvSpPr txBox="1">
            <a:spLocks noChangeArrowheads="1"/>
          </p:cNvSpPr>
          <p:nvPr/>
        </p:nvSpPr>
        <p:spPr bwMode="auto">
          <a:xfrm>
            <a:off x="22326600" y="6564313"/>
            <a:ext cx="9829800"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389438">
              <a:defRPr sz="8600">
                <a:solidFill>
                  <a:schemeClr val="tx1"/>
                </a:solidFill>
                <a:latin typeface="Arial" panose="020B0604020202020204" pitchFamily="34" charset="0"/>
              </a:defRPr>
            </a:lvl1pPr>
            <a:lvl2pPr marL="742950" indent="-285750" defTabSz="4389438">
              <a:defRPr sz="8600">
                <a:solidFill>
                  <a:schemeClr val="tx1"/>
                </a:solidFill>
                <a:latin typeface="Arial" panose="020B0604020202020204" pitchFamily="34" charset="0"/>
              </a:defRPr>
            </a:lvl2pPr>
            <a:lvl3pPr marL="1143000" indent="-228600" defTabSz="4389438">
              <a:defRPr sz="8600">
                <a:solidFill>
                  <a:schemeClr val="tx1"/>
                </a:solidFill>
                <a:latin typeface="Arial" panose="020B0604020202020204" pitchFamily="34" charset="0"/>
              </a:defRPr>
            </a:lvl3pPr>
            <a:lvl4pPr marL="1600200" indent="-228600" defTabSz="4389438">
              <a:defRPr sz="8600">
                <a:solidFill>
                  <a:schemeClr val="tx1"/>
                </a:solidFill>
                <a:latin typeface="Arial" panose="020B0604020202020204" pitchFamily="34" charset="0"/>
              </a:defRPr>
            </a:lvl4pPr>
            <a:lvl5pPr marL="2057400" indent="-228600" defTabSz="4389438">
              <a:defRPr sz="8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8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8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8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8600">
                <a:solidFill>
                  <a:schemeClr val="tx1"/>
                </a:solidFill>
                <a:latin typeface="Arial" panose="020B0604020202020204" pitchFamily="34" charset="0"/>
              </a:defRPr>
            </a:lvl9pPr>
          </a:lstStyle>
          <a:p>
            <a:pPr algn="ctr" eaLnBrk="1" hangingPunct="1">
              <a:spcBef>
                <a:spcPct val="50000"/>
              </a:spcBef>
            </a:pPr>
            <a:r>
              <a:rPr lang="en-US" altLang="en-US" b="1"/>
              <a:t>Results</a:t>
            </a:r>
          </a:p>
        </p:txBody>
      </p:sp>
      <p:pic>
        <p:nvPicPr>
          <p:cNvPr id="3094" name="Picture 3">
            <a:extLst>
              <a:ext uri="{FF2B5EF4-FFF2-40B4-BE49-F238E27FC236}">
                <a16:creationId xmlns:a16="http://schemas.microsoft.com/office/drawing/2014/main" id="{93AF3A30-11CF-2FE8-850E-33A13B65C019}"/>
              </a:ext>
            </a:extLst>
          </p:cNvPr>
          <p:cNvPicPr>
            <a:picLocks noChangeAspect="1"/>
          </p:cNvPicPr>
          <p:nvPr/>
        </p:nvPicPr>
        <p:blipFill>
          <a:blip r:embed="rId5">
            <a:extLst>
              <a:ext uri="{28A0092B-C50C-407E-A947-70E740481C1C}">
                <a14:useLocalDpi xmlns:a14="http://schemas.microsoft.com/office/drawing/2010/main" val="0"/>
              </a:ext>
            </a:extLst>
          </a:blip>
          <a:srcRect l="6850" t="15068" r="5775" b="12502"/>
          <a:stretch>
            <a:fillRect/>
          </a:stretch>
        </p:blipFill>
        <p:spPr bwMode="auto">
          <a:xfrm>
            <a:off x="1482725" y="1624013"/>
            <a:ext cx="7161213"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a:extLst>
              <a:ext uri="{FF2B5EF4-FFF2-40B4-BE49-F238E27FC236}">
                <a16:creationId xmlns:a16="http://schemas.microsoft.com/office/drawing/2014/main" id="{6F22D9CC-136A-1BAE-3618-9916FBD76661}"/>
              </a:ext>
            </a:extLst>
          </p:cNvPr>
          <p:cNvPicPr>
            <a:picLocks noChangeAspect="1"/>
          </p:cNvPicPr>
          <p:nvPr/>
        </p:nvPicPr>
        <p:blipFill>
          <a:blip r:embed="rId6"/>
          <a:stretch>
            <a:fillRect/>
          </a:stretch>
        </p:blipFill>
        <p:spPr>
          <a:xfrm>
            <a:off x="13707375" y="10776641"/>
            <a:ext cx="5538157" cy="1858811"/>
          </a:xfrm>
          <a:prstGeom prst="rect">
            <a:avLst/>
          </a:prstGeom>
        </p:spPr>
      </p:pic>
      <p:sp>
        <p:nvSpPr>
          <p:cNvPr id="6" name="Text Box 36">
            <a:extLst>
              <a:ext uri="{FF2B5EF4-FFF2-40B4-BE49-F238E27FC236}">
                <a16:creationId xmlns:a16="http://schemas.microsoft.com/office/drawing/2014/main" id="{50AC1A80-9F4D-F6B4-A770-E57A6A96BA0F}"/>
              </a:ext>
            </a:extLst>
          </p:cNvPr>
          <p:cNvSpPr txBox="1">
            <a:spLocks noChangeArrowheads="1"/>
          </p:cNvSpPr>
          <p:nvPr/>
        </p:nvSpPr>
        <p:spPr bwMode="auto">
          <a:xfrm>
            <a:off x="11873781" y="12756132"/>
            <a:ext cx="9440652" cy="3527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mpd="thinThick">
                <a:solidFill>
                  <a:srgbClr val="000000"/>
                </a:solidFill>
                <a:miter lim="800000"/>
                <a:headEnd/>
                <a:tailEnd/>
              </a14:hiddenLine>
            </a:ext>
          </a:extLst>
        </p:spPr>
        <p:txBody>
          <a:bodyPr wrap="square" lIns="61170" tIns="30584" rIns="61170" bIns="30584" anchor="t">
            <a:spAutoFit/>
          </a:bodyPr>
          <a:lstStyle>
            <a:lvl1pPr defTabSz="612775">
              <a:defRPr sz="8600">
                <a:solidFill>
                  <a:schemeClr val="tx1"/>
                </a:solidFill>
                <a:latin typeface="Arial" panose="020B0604020202020204" pitchFamily="34" charset="0"/>
              </a:defRPr>
            </a:lvl1pPr>
            <a:lvl2pPr marL="742950" indent="-285750" defTabSz="612775">
              <a:defRPr sz="8600">
                <a:solidFill>
                  <a:schemeClr val="tx1"/>
                </a:solidFill>
                <a:latin typeface="Arial" panose="020B0604020202020204" pitchFamily="34" charset="0"/>
              </a:defRPr>
            </a:lvl2pPr>
            <a:lvl3pPr marL="1143000" indent="-228600" defTabSz="612775">
              <a:defRPr sz="8600">
                <a:solidFill>
                  <a:schemeClr val="tx1"/>
                </a:solidFill>
                <a:latin typeface="Arial" panose="020B0604020202020204" pitchFamily="34" charset="0"/>
              </a:defRPr>
            </a:lvl3pPr>
            <a:lvl4pPr marL="1600200" indent="-228600" defTabSz="612775">
              <a:defRPr sz="8600">
                <a:solidFill>
                  <a:schemeClr val="tx1"/>
                </a:solidFill>
                <a:latin typeface="Arial" panose="020B0604020202020204" pitchFamily="34" charset="0"/>
              </a:defRPr>
            </a:lvl4pPr>
            <a:lvl5pPr marL="2057400" indent="-228600" defTabSz="612775">
              <a:defRPr sz="8600">
                <a:solidFill>
                  <a:schemeClr val="tx1"/>
                </a:solidFill>
                <a:latin typeface="Arial" panose="020B0604020202020204" pitchFamily="34" charset="0"/>
              </a:defRPr>
            </a:lvl5pPr>
            <a:lvl6pPr marL="2514600" indent="-228600" defTabSz="612775" eaLnBrk="0" fontAlgn="base" hangingPunct="0">
              <a:spcBef>
                <a:spcPct val="0"/>
              </a:spcBef>
              <a:spcAft>
                <a:spcPct val="0"/>
              </a:spcAft>
              <a:defRPr sz="8600">
                <a:solidFill>
                  <a:schemeClr val="tx1"/>
                </a:solidFill>
                <a:latin typeface="Arial" panose="020B0604020202020204" pitchFamily="34" charset="0"/>
              </a:defRPr>
            </a:lvl6pPr>
            <a:lvl7pPr marL="2971800" indent="-228600" defTabSz="612775" eaLnBrk="0" fontAlgn="base" hangingPunct="0">
              <a:spcBef>
                <a:spcPct val="0"/>
              </a:spcBef>
              <a:spcAft>
                <a:spcPct val="0"/>
              </a:spcAft>
              <a:defRPr sz="8600">
                <a:solidFill>
                  <a:schemeClr val="tx1"/>
                </a:solidFill>
                <a:latin typeface="Arial" panose="020B0604020202020204" pitchFamily="34" charset="0"/>
              </a:defRPr>
            </a:lvl7pPr>
            <a:lvl8pPr marL="3429000" indent="-228600" defTabSz="612775" eaLnBrk="0" fontAlgn="base" hangingPunct="0">
              <a:spcBef>
                <a:spcPct val="0"/>
              </a:spcBef>
              <a:spcAft>
                <a:spcPct val="0"/>
              </a:spcAft>
              <a:defRPr sz="8600">
                <a:solidFill>
                  <a:schemeClr val="tx1"/>
                </a:solidFill>
                <a:latin typeface="Arial" panose="020B0604020202020204" pitchFamily="34" charset="0"/>
              </a:defRPr>
            </a:lvl8pPr>
            <a:lvl9pPr marL="3886200" indent="-228600" defTabSz="612775" eaLnBrk="0" fontAlgn="base" hangingPunct="0">
              <a:spcBef>
                <a:spcPct val="0"/>
              </a:spcBef>
              <a:spcAft>
                <a:spcPct val="0"/>
              </a:spcAft>
              <a:defRPr sz="8600">
                <a:solidFill>
                  <a:schemeClr val="tx1"/>
                </a:solidFill>
                <a:latin typeface="Arial" panose="020B0604020202020204" pitchFamily="34" charset="0"/>
              </a:defRPr>
            </a:lvl9pPr>
          </a:lstStyle>
          <a:p>
            <a:pPr>
              <a:lnSpc>
                <a:spcPct val="95000"/>
              </a:lnSpc>
            </a:pPr>
            <a:r>
              <a:rPr lang="en-US" altLang="en-US" sz="2700">
                <a:latin typeface="Arial"/>
                <a:cs typeface="Times New Roman"/>
              </a:rPr>
              <a:t>Knowledge distillation is regulated by the two hyper-parameters (temperature </a:t>
            </a:r>
            <a:r>
              <a:rPr lang="en-US" altLang="en-US" sz="2700" b="1">
                <a:latin typeface="Arial"/>
                <a:cs typeface="Times New Roman"/>
              </a:rPr>
              <a:t>T</a:t>
            </a:r>
            <a:r>
              <a:rPr lang="en-US" altLang="en-US" sz="2700">
                <a:latin typeface="Arial"/>
                <a:cs typeface="Times New Roman"/>
              </a:rPr>
              <a:t> and scaling factor </a:t>
            </a:r>
            <a:r>
              <a:rPr lang="en-US" altLang="en-US" sz="2700" b="1">
                <a:latin typeface="Arial"/>
                <a:cs typeface="Times New Roman"/>
              </a:rPr>
              <a:t>α</a:t>
            </a:r>
            <a:r>
              <a:rPr lang="en-US" altLang="en-US" sz="2700">
                <a:latin typeface="Arial"/>
                <a:cs typeface="Times New Roman"/>
              </a:rPr>
              <a:t>), and they require manual tuning to achieve the best results on different applications. Therefore, we trained the student model and investigated the effect of each parameter separately, while maintaining the rest of configurations. </a:t>
            </a:r>
            <a:r>
              <a:rPr lang="en-US" sz="2700">
                <a:latin typeface="Arial"/>
                <a:cs typeface="Times New Roman"/>
              </a:rPr>
              <a:t>The test set accuracy is used  as comparison metrics between the students with and without knowledge distillation.</a:t>
            </a:r>
          </a:p>
          <a:p>
            <a:endParaRPr lang="en-US" altLang="en-US" sz="2000">
              <a:latin typeface="Times New Roman" panose="02020603050405020304" pitchFamily="18" charset="0"/>
              <a:cs typeface="Times New Roman" panose="02020603050405020304" pitchFamily="18" charset="0"/>
            </a:endParaRPr>
          </a:p>
        </p:txBody>
      </p:sp>
      <p:pic>
        <p:nvPicPr>
          <p:cNvPr id="7" name="Picture 7" descr="Diagram&#10;&#10;Description automatically generated">
            <a:extLst>
              <a:ext uri="{FF2B5EF4-FFF2-40B4-BE49-F238E27FC236}">
                <a16:creationId xmlns:a16="http://schemas.microsoft.com/office/drawing/2014/main" id="{14F1B82A-1A86-90D7-0992-2784C2ADCAF3}"/>
              </a:ext>
            </a:extLst>
          </p:cNvPr>
          <p:cNvPicPr>
            <a:picLocks noChangeAspect="1"/>
          </p:cNvPicPr>
          <p:nvPr/>
        </p:nvPicPr>
        <p:blipFill>
          <a:blip r:embed="rId7"/>
          <a:stretch>
            <a:fillRect/>
          </a:stretch>
        </p:blipFill>
        <p:spPr>
          <a:xfrm>
            <a:off x="11878573" y="25379698"/>
            <a:ext cx="9213010" cy="3103941"/>
          </a:xfrm>
          <a:prstGeom prst="rect">
            <a:avLst/>
          </a:prstGeom>
        </p:spPr>
      </p:pic>
      <p:pic>
        <p:nvPicPr>
          <p:cNvPr id="8" name="Picture 8" descr="A picture containing shape&#10;&#10;Description automatically generated">
            <a:extLst>
              <a:ext uri="{FF2B5EF4-FFF2-40B4-BE49-F238E27FC236}">
                <a16:creationId xmlns:a16="http://schemas.microsoft.com/office/drawing/2014/main" id="{B8A73D84-5470-ECFD-E823-55CBB390ED6B}"/>
              </a:ext>
            </a:extLst>
          </p:cNvPr>
          <p:cNvPicPr>
            <a:picLocks noChangeAspect="1"/>
          </p:cNvPicPr>
          <p:nvPr/>
        </p:nvPicPr>
        <p:blipFill>
          <a:blip r:embed="rId8"/>
          <a:stretch>
            <a:fillRect/>
          </a:stretch>
        </p:blipFill>
        <p:spPr>
          <a:xfrm>
            <a:off x="16071012" y="16453360"/>
            <a:ext cx="5037824" cy="5032251"/>
          </a:xfrm>
          <a:prstGeom prst="rect">
            <a:avLst/>
          </a:prstGeom>
        </p:spPr>
      </p:pic>
      <p:sp>
        <p:nvSpPr>
          <p:cNvPr id="10" name="TextBox 9">
            <a:extLst>
              <a:ext uri="{FF2B5EF4-FFF2-40B4-BE49-F238E27FC236}">
                <a16:creationId xmlns:a16="http://schemas.microsoft.com/office/drawing/2014/main" id="{DCAB07A9-BC3D-6972-D955-30148AC1D0A2}"/>
              </a:ext>
            </a:extLst>
          </p:cNvPr>
          <p:cNvSpPr txBox="1"/>
          <p:nvPr/>
        </p:nvSpPr>
        <p:spPr>
          <a:xfrm>
            <a:off x="1010081" y="16512691"/>
            <a:ext cx="9199902" cy="63248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700">
                <a:latin typeface="Arial"/>
                <a:cs typeface="Arial"/>
              </a:rPr>
              <a:t>The project focuses on the setting of Knowledge distillation as a model compression technique to transfer knowledge from a larger model to a smaller one that can be used practically in real-world settings. There are two tasks accomplished in this project:  ​</a:t>
            </a:r>
          </a:p>
          <a:p>
            <a:r>
              <a:rPr lang="en-US" sz="2700">
                <a:latin typeface="Arial"/>
                <a:cs typeface="Arial"/>
              </a:rPr>
              <a:t>(1) using</a:t>
            </a:r>
            <a:r>
              <a:rPr lang="en-US" sz="2700" b="1">
                <a:latin typeface="Arial"/>
                <a:cs typeface="Arial"/>
              </a:rPr>
              <a:t> conventional and state of the art knowledge distillation </a:t>
            </a:r>
            <a:r>
              <a:rPr lang="en-US" sz="2700">
                <a:latin typeface="Arial"/>
                <a:cs typeface="Arial"/>
              </a:rPr>
              <a:t>frameworks as a model compression method for a popular digit classification dataset, “MNIST” </a:t>
            </a:r>
          </a:p>
          <a:p>
            <a:r>
              <a:rPr lang="en-US" sz="2700">
                <a:latin typeface="Arial"/>
                <a:cs typeface="Arial"/>
              </a:rPr>
              <a:t>(2) using</a:t>
            </a:r>
            <a:r>
              <a:rPr lang="en-US" sz="2700" b="1">
                <a:latin typeface="Arial"/>
                <a:cs typeface="Arial"/>
              </a:rPr>
              <a:t> transfer learning and knowledge distillation</a:t>
            </a:r>
            <a:r>
              <a:rPr lang="en-US" sz="2700">
                <a:latin typeface="Arial"/>
                <a:cs typeface="Arial"/>
              </a:rPr>
              <a:t> to train a lightweight model for mimicking a pre-trained larger model in a clinical histopathology dataset, “MHIST” </a:t>
            </a:r>
          </a:p>
          <a:p>
            <a:endParaRPr lang="en-US" sz="2700">
              <a:latin typeface="Arial"/>
              <a:cs typeface="Arial"/>
            </a:endParaRPr>
          </a:p>
          <a:p>
            <a:r>
              <a:rPr lang="en-US" sz="2700">
                <a:latin typeface="Arial"/>
                <a:cs typeface="Arial"/>
              </a:rPr>
              <a:t>The MNIST and MHIST datasets are listed below for direct visual comparison.</a:t>
            </a:r>
          </a:p>
        </p:txBody>
      </p:sp>
      <p:pic>
        <p:nvPicPr>
          <p:cNvPr id="11" name="Picture 11" descr="Diagram&#10;&#10;Description automatically generated">
            <a:extLst>
              <a:ext uri="{FF2B5EF4-FFF2-40B4-BE49-F238E27FC236}">
                <a16:creationId xmlns:a16="http://schemas.microsoft.com/office/drawing/2014/main" id="{4535BAE3-089B-AEC9-8C4B-0CFC970A0CF9}"/>
              </a:ext>
            </a:extLst>
          </p:cNvPr>
          <p:cNvPicPr>
            <a:picLocks noChangeAspect="1"/>
          </p:cNvPicPr>
          <p:nvPr/>
        </p:nvPicPr>
        <p:blipFill>
          <a:blip r:embed="rId9"/>
          <a:stretch>
            <a:fillRect/>
          </a:stretch>
        </p:blipFill>
        <p:spPr>
          <a:xfrm>
            <a:off x="2061714" y="11617935"/>
            <a:ext cx="7194428" cy="4178881"/>
          </a:xfrm>
          <a:prstGeom prst="rect">
            <a:avLst/>
          </a:prstGeom>
        </p:spPr>
      </p:pic>
      <p:pic>
        <p:nvPicPr>
          <p:cNvPr id="13" name="Picture 13" descr="Chart, line chart&#10;&#10;Description automatically generated">
            <a:extLst>
              <a:ext uri="{FF2B5EF4-FFF2-40B4-BE49-F238E27FC236}">
                <a16:creationId xmlns:a16="http://schemas.microsoft.com/office/drawing/2014/main" id="{01885550-D76A-36EC-385D-81F1B96545E5}"/>
              </a:ext>
            </a:extLst>
          </p:cNvPr>
          <p:cNvPicPr>
            <a:picLocks noChangeAspect="1"/>
          </p:cNvPicPr>
          <p:nvPr/>
        </p:nvPicPr>
        <p:blipFill rotWithShape="1">
          <a:blip r:embed="rId10"/>
          <a:srcRect r="5464" b="-420"/>
          <a:stretch/>
        </p:blipFill>
        <p:spPr>
          <a:xfrm>
            <a:off x="25528536" y="12880734"/>
            <a:ext cx="2874397" cy="1945095"/>
          </a:xfrm>
          <a:prstGeom prst="rect">
            <a:avLst/>
          </a:prstGeom>
        </p:spPr>
      </p:pic>
      <p:pic>
        <p:nvPicPr>
          <p:cNvPr id="14" name="Picture 14" descr="Chart, line chart&#10;&#10;Description automatically generated">
            <a:extLst>
              <a:ext uri="{FF2B5EF4-FFF2-40B4-BE49-F238E27FC236}">
                <a16:creationId xmlns:a16="http://schemas.microsoft.com/office/drawing/2014/main" id="{BCF28458-65BD-0355-9F9B-35CA39EE8019}"/>
              </a:ext>
            </a:extLst>
          </p:cNvPr>
          <p:cNvPicPr>
            <a:picLocks noChangeAspect="1"/>
          </p:cNvPicPr>
          <p:nvPr/>
        </p:nvPicPr>
        <p:blipFill>
          <a:blip r:embed="rId11"/>
          <a:stretch>
            <a:fillRect/>
          </a:stretch>
        </p:blipFill>
        <p:spPr>
          <a:xfrm>
            <a:off x="22593286" y="12887249"/>
            <a:ext cx="2760279" cy="1908152"/>
          </a:xfrm>
          <a:prstGeom prst="rect">
            <a:avLst/>
          </a:prstGeom>
        </p:spPr>
      </p:pic>
      <p:sp>
        <p:nvSpPr>
          <p:cNvPr id="15" name="Text Box 36">
            <a:extLst>
              <a:ext uri="{FF2B5EF4-FFF2-40B4-BE49-F238E27FC236}">
                <a16:creationId xmlns:a16="http://schemas.microsoft.com/office/drawing/2014/main" id="{C113988A-83F2-D81D-9D91-28C05C98EABD}"/>
              </a:ext>
            </a:extLst>
          </p:cNvPr>
          <p:cNvSpPr txBox="1">
            <a:spLocks noChangeArrowheads="1"/>
          </p:cNvSpPr>
          <p:nvPr/>
        </p:nvSpPr>
        <p:spPr bwMode="auto">
          <a:xfrm>
            <a:off x="11891033" y="16655268"/>
            <a:ext cx="3609198" cy="5895670"/>
          </a:xfrm>
          <a:prstGeom prst="rect">
            <a:avLst/>
          </a:prstGeom>
          <a:ln>
            <a:noFill/>
            <a:prstDash val="dash"/>
            <a:headEnd/>
            <a:tailEnd/>
          </a:ln>
          <a:extLst>
            <a:ext uri="{909E8E84-426E-40DD-AFC4-6F175D3DCCD1}">
              <a14:hiddenFill xmlns:a14="http://schemas.microsoft.com/office/drawing/2010/main">
                <a:solidFill>
                  <a:srgbClr val="FFFFFF"/>
                </a:solidFill>
              </a14:hiddenFill>
            </a:ext>
          </a:extLst>
        </p:spPr>
        <p:style>
          <a:lnRef idx="2">
            <a:schemeClr val="accent5"/>
          </a:lnRef>
          <a:fillRef idx="1">
            <a:schemeClr val="lt1"/>
          </a:fillRef>
          <a:effectRef idx="0">
            <a:schemeClr val="accent5"/>
          </a:effectRef>
          <a:fontRef idx="minor">
            <a:schemeClr val="dk1"/>
          </a:fontRef>
        </p:style>
        <p:txBody>
          <a:bodyPr wrap="square" lIns="61170" tIns="30584" rIns="61170" bIns="30584" anchor="t">
            <a:spAutoFit/>
          </a:bodyPr>
          <a:lstStyle>
            <a:lvl1pPr defTabSz="612775">
              <a:defRPr sz="8600">
                <a:solidFill>
                  <a:schemeClr val="tx1"/>
                </a:solidFill>
                <a:latin typeface="Arial" panose="020B0604020202020204" pitchFamily="34" charset="0"/>
              </a:defRPr>
            </a:lvl1pPr>
            <a:lvl2pPr marL="742950" indent="-285750" defTabSz="612775">
              <a:defRPr sz="8600">
                <a:solidFill>
                  <a:schemeClr val="tx1"/>
                </a:solidFill>
                <a:latin typeface="Arial" panose="020B0604020202020204" pitchFamily="34" charset="0"/>
              </a:defRPr>
            </a:lvl2pPr>
            <a:lvl3pPr marL="1143000" indent="-228600" defTabSz="612775">
              <a:defRPr sz="8600">
                <a:solidFill>
                  <a:schemeClr val="tx1"/>
                </a:solidFill>
                <a:latin typeface="Arial" panose="020B0604020202020204" pitchFamily="34" charset="0"/>
              </a:defRPr>
            </a:lvl3pPr>
            <a:lvl4pPr marL="1600200" indent="-228600" defTabSz="612775">
              <a:defRPr sz="8600">
                <a:solidFill>
                  <a:schemeClr val="tx1"/>
                </a:solidFill>
                <a:latin typeface="Arial" panose="020B0604020202020204" pitchFamily="34" charset="0"/>
              </a:defRPr>
            </a:lvl4pPr>
            <a:lvl5pPr marL="2057400" indent="-228600" defTabSz="612775">
              <a:defRPr sz="8600">
                <a:solidFill>
                  <a:schemeClr val="tx1"/>
                </a:solidFill>
                <a:latin typeface="Arial" panose="020B0604020202020204" pitchFamily="34" charset="0"/>
              </a:defRPr>
            </a:lvl5pPr>
            <a:lvl6pPr marL="2514600" indent="-228600" defTabSz="612775" eaLnBrk="0" fontAlgn="base" hangingPunct="0">
              <a:spcBef>
                <a:spcPct val="0"/>
              </a:spcBef>
              <a:spcAft>
                <a:spcPct val="0"/>
              </a:spcAft>
              <a:defRPr sz="8600">
                <a:solidFill>
                  <a:schemeClr val="tx1"/>
                </a:solidFill>
                <a:latin typeface="Arial" panose="020B0604020202020204" pitchFamily="34" charset="0"/>
              </a:defRPr>
            </a:lvl6pPr>
            <a:lvl7pPr marL="2971800" indent="-228600" defTabSz="612775" eaLnBrk="0" fontAlgn="base" hangingPunct="0">
              <a:spcBef>
                <a:spcPct val="0"/>
              </a:spcBef>
              <a:spcAft>
                <a:spcPct val="0"/>
              </a:spcAft>
              <a:defRPr sz="8600">
                <a:solidFill>
                  <a:schemeClr val="tx1"/>
                </a:solidFill>
                <a:latin typeface="Arial" panose="020B0604020202020204" pitchFamily="34" charset="0"/>
              </a:defRPr>
            </a:lvl7pPr>
            <a:lvl8pPr marL="3429000" indent="-228600" defTabSz="612775" eaLnBrk="0" fontAlgn="base" hangingPunct="0">
              <a:spcBef>
                <a:spcPct val="0"/>
              </a:spcBef>
              <a:spcAft>
                <a:spcPct val="0"/>
              </a:spcAft>
              <a:defRPr sz="8600">
                <a:solidFill>
                  <a:schemeClr val="tx1"/>
                </a:solidFill>
                <a:latin typeface="Arial" panose="020B0604020202020204" pitchFamily="34" charset="0"/>
              </a:defRPr>
            </a:lvl8pPr>
            <a:lvl9pPr marL="3886200" indent="-228600" defTabSz="612775" eaLnBrk="0" fontAlgn="base" hangingPunct="0">
              <a:spcBef>
                <a:spcPct val="0"/>
              </a:spcBef>
              <a:spcAft>
                <a:spcPct val="0"/>
              </a:spcAft>
              <a:defRPr sz="8600">
                <a:solidFill>
                  <a:schemeClr val="tx1"/>
                </a:solidFill>
                <a:latin typeface="Arial" panose="020B0604020202020204" pitchFamily="34" charset="0"/>
              </a:defRPr>
            </a:lvl9pPr>
          </a:lstStyle>
          <a:p>
            <a:pPr>
              <a:lnSpc>
                <a:spcPct val="95000"/>
              </a:lnSpc>
            </a:pPr>
            <a:r>
              <a:rPr lang="en-US" altLang="en-US" sz="2700">
                <a:latin typeface="Arial"/>
                <a:cs typeface="Times New Roman"/>
              </a:rPr>
              <a:t>Subclass knowledge distillation is builds on the existing paper and proposes manual creation of subclasses to enhance the distillation process and achieve better results [2]. We performed a similar verification process and compare the effectiveness of this method to the original one.</a:t>
            </a:r>
          </a:p>
          <a:p>
            <a:endParaRPr lang="en-US" altLang="en-US" sz="2000">
              <a:latin typeface="Times New Roman" panose="02020603050405020304" pitchFamily="18" charset="0"/>
              <a:cs typeface="Times New Roman" panose="02020603050405020304" pitchFamily="18" charset="0"/>
            </a:endParaRPr>
          </a:p>
        </p:txBody>
      </p:sp>
      <p:pic>
        <p:nvPicPr>
          <p:cNvPr id="16" name="Picture 16" descr="A picture containing text, fabric&#10;&#10;Description automatically generated">
            <a:extLst>
              <a:ext uri="{FF2B5EF4-FFF2-40B4-BE49-F238E27FC236}">
                <a16:creationId xmlns:a16="http://schemas.microsoft.com/office/drawing/2014/main" id="{BF37D7AD-5597-9B27-4809-CA24DA21CE45}"/>
              </a:ext>
            </a:extLst>
          </p:cNvPr>
          <p:cNvPicPr>
            <a:picLocks noChangeAspect="1"/>
          </p:cNvPicPr>
          <p:nvPr/>
        </p:nvPicPr>
        <p:blipFill>
          <a:blip r:embed="rId12"/>
          <a:stretch>
            <a:fillRect/>
          </a:stretch>
        </p:blipFill>
        <p:spPr>
          <a:xfrm>
            <a:off x="1164567" y="24562319"/>
            <a:ext cx="8902459" cy="1788460"/>
          </a:xfrm>
          <a:prstGeom prst="rect">
            <a:avLst/>
          </a:prstGeom>
        </p:spPr>
      </p:pic>
      <p:pic>
        <p:nvPicPr>
          <p:cNvPr id="17" name="Picture 17" descr="Chart, line chart&#10;&#10;Description automatically generated">
            <a:extLst>
              <a:ext uri="{FF2B5EF4-FFF2-40B4-BE49-F238E27FC236}">
                <a16:creationId xmlns:a16="http://schemas.microsoft.com/office/drawing/2014/main" id="{A1A18C16-4BC5-210D-FC96-90753200EA4C}"/>
              </a:ext>
            </a:extLst>
          </p:cNvPr>
          <p:cNvPicPr>
            <a:picLocks noChangeAspect="1"/>
          </p:cNvPicPr>
          <p:nvPr/>
        </p:nvPicPr>
        <p:blipFill>
          <a:blip r:embed="rId13"/>
          <a:stretch>
            <a:fillRect/>
          </a:stretch>
        </p:blipFill>
        <p:spPr>
          <a:xfrm>
            <a:off x="22470321" y="19393537"/>
            <a:ext cx="3071003" cy="1924085"/>
          </a:xfrm>
          <a:prstGeom prst="rect">
            <a:avLst/>
          </a:prstGeom>
        </p:spPr>
      </p:pic>
      <p:pic>
        <p:nvPicPr>
          <p:cNvPr id="19" name="Picture 19" descr="Chart, line chart&#10;&#10;Description automatically generated">
            <a:extLst>
              <a:ext uri="{FF2B5EF4-FFF2-40B4-BE49-F238E27FC236}">
                <a16:creationId xmlns:a16="http://schemas.microsoft.com/office/drawing/2014/main" id="{43200F58-FA72-F6B1-D5FB-AEE3867EB8E2}"/>
              </a:ext>
            </a:extLst>
          </p:cNvPr>
          <p:cNvPicPr>
            <a:picLocks noChangeAspect="1"/>
          </p:cNvPicPr>
          <p:nvPr/>
        </p:nvPicPr>
        <p:blipFill>
          <a:blip r:embed="rId14"/>
          <a:stretch>
            <a:fillRect/>
          </a:stretch>
        </p:blipFill>
        <p:spPr>
          <a:xfrm>
            <a:off x="25436584" y="19360770"/>
            <a:ext cx="2950232" cy="1960544"/>
          </a:xfrm>
          <a:prstGeom prst="rect">
            <a:avLst/>
          </a:prstGeom>
        </p:spPr>
      </p:pic>
      <p:pic>
        <p:nvPicPr>
          <p:cNvPr id="22" name="Picture 22" descr="Table&#10;&#10;Description automatically generated">
            <a:extLst>
              <a:ext uri="{FF2B5EF4-FFF2-40B4-BE49-F238E27FC236}">
                <a16:creationId xmlns:a16="http://schemas.microsoft.com/office/drawing/2014/main" id="{8432FE1F-39A2-307C-A3FE-7521041617EF}"/>
              </a:ext>
            </a:extLst>
          </p:cNvPr>
          <p:cNvPicPr>
            <a:picLocks noChangeAspect="1"/>
          </p:cNvPicPr>
          <p:nvPr/>
        </p:nvPicPr>
        <p:blipFill rotWithShape="1">
          <a:blip r:embed="rId15"/>
          <a:srcRect t="14465"/>
          <a:stretch/>
        </p:blipFill>
        <p:spPr>
          <a:xfrm>
            <a:off x="23610500" y="8348005"/>
            <a:ext cx="7349704" cy="2346385"/>
          </a:xfrm>
          <a:prstGeom prst="rect">
            <a:avLst/>
          </a:prstGeom>
        </p:spPr>
      </p:pic>
      <p:cxnSp>
        <p:nvCxnSpPr>
          <p:cNvPr id="24" name="Straight Arrow Connector 23">
            <a:extLst>
              <a:ext uri="{FF2B5EF4-FFF2-40B4-BE49-F238E27FC236}">
                <a16:creationId xmlns:a16="http://schemas.microsoft.com/office/drawing/2014/main" id="{8106B02E-490C-A379-543D-A6F20EB34B08}"/>
              </a:ext>
            </a:extLst>
          </p:cNvPr>
          <p:cNvCxnSpPr/>
          <p:nvPr/>
        </p:nvCxnSpPr>
        <p:spPr bwMode="auto">
          <a:xfrm flipV="1">
            <a:off x="11964840" y="16174530"/>
            <a:ext cx="9005977" cy="1"/>
          </a:xfrm>
          <a:prstGeom prst="straightConnector1">
            <a:avLst/>
          </a:prstGeom>
          <a:solidFill>
            <a:schemeClr val="bg1"/>
          </a:solidFill>
          <a:ln w="28575" cap="flat" cmpd="sng" algn="ctr">
            <a:solidFill>
              <a:schemeClr val="bg2"/>
            </a:solidFill>
            <a:prstDash val="dash"/>
            <a:round/>
            <a:headEnd type="none" w="med" len="med"/>
            <a:tailEnd type="none" w="med" len="med"/>
          </a:ln>
          <a:effectLst/>
        </p:spPr>
      </p:cxnSp>
      <p:pic>
        <p:nvPicPr>
          <p:cNvPr id="25" name="Picture 25" descr="Table&#10;&#10;Description automatically generated">
            <a:extLst>
              <a:ext uri="{FF2B5EF4-FFF2-40B4-BE49-F238E27FC236}">
                <a16:creationId xmlns:a16="http://schemas.microsoft.com/office/drawing/2014/main" id="{F247B8C4-53CB-2E34-CF8E-C0A9E32EA5F6}"/>
              </a:ext>
            </a:extLst>
          </p:cNvPr>
          <p:cNvPicPr>
            <a:picLocks noChangeAspect="1"/>
          </p:cNvPicPr>
          <p:nvPr/>
        </p:nvPicPr>
        <p:blipFill rotWithShape="1">
          <a:blip r:embed="rId16"/>
          <a:srcRect l="-265" t="17391" r="348" b="621"/>
          <a:stretch/>
        </p:blipFill>
        <p:spPr>
          <a:xfrm>
            <a:off x="23714018" y="25608534"/>
            <a:ext cx="6498957" cy="2282940"/>
          </a:xfrm>
          <a:prstGeom prst="rect">
            <a:avLst/>
          </a:prstGeom>
        </p:spPr>
      </p:pic>
      <p:pic>
        <p:nvPicPr>
          <p:cNvPr id="26" name="Picture 26" descr="Table&#10;&#10;Description automatically generated">
            <a:extLst>
              <a:ext uri="{FF2B5EF4-FFF2-40B4-BE49-F238E27FC236}">
                <a16:creationId xmlns:a16="http://schemas.microsoft.com/office/drawing/2014/main" id="{644EDF05-DA93-D7E3-86ED-A8CCA4A49C5D}"/>
              </a:ext>
            </a:extLst>
          </p:cNvPr>
          <p:cNvPicPr>
            <a:picLocks noChangeAspect="1"/>
          </p:cNvPicPr>
          <p:nvPr/>
        </p:nvPicPr>
        <p:blipFill rotWithShape="1">
          <a:blip r:embed="rId17"/>
          <a:srcRect l="-412" t="18182" b="-649"/>
          <a:stretch/>
        </p:blipFill>
        <p:spPr>
          <a:xfrm>
            <a:off x="22642352" y="27901135"/>
            <a:ext cx="8887202" cy="2199881"/>
          </a:xfrm>
          <a:prstGeom prst="rect">
            <a:avLst/>
          </a:prstGeom>
        </p:spPr>
      </p:pic>
      <p:cxnSp>
        <p:nvCxnSpPr>
          <p:cNvPr id="27" name="Straight Arrow Connector 26">
            <a:extLst>
              <a:ext uri="{FF2B5EF4-FFF2-40B4-BE49-F238E27FC236}">
                <a16:creationId xmlns:a16="http://schemas.microsoft.com/office/drawing/2014/main" id="{8DB31C85-2F51-F37B-249F-2627E4CB5362}"/>
              </a:ext>
            </a:extLst>
          </p:cNvPr>
          <p:cNvCxnSpPr>
            <a:cxnSpLocks/>
          </p:cNvCxnSpPr>
          <p:nvPr/>
        </p:nvCxnSpPr>
        <p:spPr bwMode="auto">
          <a:xfrm flipV="1">
            <a:off x="11964839" y="22782363"/>
            <a:ext cx="9005977" cy="1"/>
          </a:xfrm>
          <a:prstGeom prst="straightConnector1">
            <a:avLst/>
          </a:prstGeom>
          <a:solidFill>
            <a:schemeClr val="bg1"/>
          </a:solidFill>
          <a:ln w="28575" cap="flat" cmpd="sng" algn="ctr">
            <a:solidFill>
              <a:schemeClr val="bg2"/>
            </a:solidFill>
            <a:prstDash val="dash"/>
            <a:round/>
            <a:headEnd type="none" w="med" len="med"/>
            <a:tailEnd type="none" w="med" len="med"/>
          </a:ln>
          <a:effectLst/>
        </p:spPr>
      </p:cxnSp>
      <p:sp>
        <p:nvSpPr>
          <p:cNvPr id="28" name="Text Box 36">
            <a:extLst>
              <a:ext uri="{FF2B5EF4-FFF2-40B4-BE49-F238E27FC236}">
                <a16:creationId xmlns:a16="http://schemas.microsoft.com/office/drawing/2014/main" id="{98D9E4CA-C063-B337-3AB1-1174BAA8F90C}"/>
              </a:ext>
            </a:extLst>
          </p:cNvPr>
          <p:cNvSpPr txBox="1">
            <a:spLocks noChangeArrowheads="1"/>
          </p:cNvSpPr>
          <p:nvPr/>
        </p:nvSpPr>
        <p:spPr bwMode="auto">
          <a:xfrm>
            <a:off x="11960044" y="23211345"/>
            <a:ext cx="9423400" cy="234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mpd="thinThick">
                <a:solidFill>
                  <a:srgbClr val="000000"/>
                </a:solidFill>
                <a:miter lim="800000"/>
                <a:headEnd/>
                <a:tailEnd/>
              </a14:hiddenLine>
            </a:ext>
          </a:extLst>
        </p:spPr>
        <p:txBody>
          <a:bodyPr lIns="61170" tIns="30584" rIns="61170" bIns="30584" anchor="t">
            <a:spAutoFit/>
          </a:bodyPr>
          <a:lstStyle>
            <a:lvl1pPr defTabSz="612775">
              <a:defRPr sz="8600">
                <a:solidFill>
                  <a:schemeClr val="tx1"/>
                </a:solidFill>
                <a:latin typeface="Arial" panose="020B0604020202020204" pitchFamily="34" charset="0"/>
              </a:defRPr>
            </a:lvl1pPr>
            <a:lvl2pPr marL="742950" indent="-285750" defTabSz="612775">
              <a:defRPr sz="8600">
                <a:solidFill>
                  <a:schemeClr val="tx1"/>
                </a:solidFill>
                <a:latin typeface="Arial" panose="020B0604020202020204" pitchFamily="34" charset="0"/>
              </a:defRPr>
            </a:lvl2pPr>
            <a:lvl3pPr marL="1143000" indent="-228600" defTabSz="612775">
              <a:defRPr sz="8600">
                <a:solidFill>
                  <a:schemeClr val="tx1"/>
                </a:solidFill>
                <a:latin typeface="Arial" panose="020B0604020202020204" pitchFamily="34" charset="0"/>
              </a:defRPr>
            </a:lvl3pPr>
            <a:lvl4pPr marL="1600200" indent="-228600" defTabSz="612775">
              <a:defRPr sz="8600">
                <a:solidFill>
                  <a:schemeClr val="tx1"/>
                </a:solidFill>
                <a:latin typeface="Arial" panose="020B0604020202020204" pitchFamily="34" charset="0"/>
              </a:defRPr>
            </a:lvl4pPr>
            <a:lvl5pPr marL="2057400" indent="-228600" defTabSz="612775">
              <a:defRPr sz="8600">
                <a:solidFill>
                  <a:schemeClr val="tx1"/>
                </a:solidFill>
                <a:latin typeface="Arial" panose="020B0604020202020204" pitchFamily="34" charset="0"/>
              </a:defRPr>
            </a:lvl5pPr>
            <a:lvl6pPr marL="2514600" indent="-228600" defTabSz="612775" eaLnBrk="0" fontAlgn="base" hangingPunct="0">
              <a:spcBef>
                <a:spcPct val="0"/>
              </a:spcBef>
              <a:spcAft>
                <a:spcPct val="0"/>
              </a:spcAft>
              <a:defRPr sz="8600">
                <a:solidFill>
                  <a:schemeClr val="tx1"/>
                </a:solidFill>
                <a:latin typeface="Arial" panose="020B0604020202020204" pitchFamily="34" charset="0"/>
              </a:defRPr>
            </a:lvl6pPr>
            <a:lvl7pPr marL="2971800" indent="-228600" defTabSz="612775" eaLnBrk="0" fontAlgn="base" hangingPunct="0">
              <a:spcBef>
                <a:spcPct val="0"/>
              </a:spcBef>
              <a:spcAft>
                <a:spcPct val="0"/>
              </a:spcAft>
              <a:defRPr sz="8600">
                <a:solidFill>
                  <a:schemeClr val="tx1"/>
                </a:solidFill>
                <a:latin typeface="Arial" panose="020B0604020202020204" pitchFamily="34" charset="0"/>
              </a:defRPr>
            </a:lvl7pPr>
            <a:lvl8pPr marL="3429000" indent="-228600" defTabSz="612775" eaLnBrk="0" fontAlgn="base" hangingPunct="0">
              <a:spcBef>
                <a:spcPct val="0"/>
              </a:spcBef>
              <a:spcAft>
                <a:spcPct val="0"/>
              </a:spcAft>
              <a:defRPr sz="8600">
                <a:solidFill>
                  <a:schemeClr val="tx1"/>
                </a:solidFill>
                <a:latin typeface="Arial" panose="020B0604020202020204" pitchFamily="34" charset="0"/>
              </a:defRPr>
            </a:lvl8pPr>
            <a:lvl9pPr marL="3886200" indent="-228600" defTabSz="612775" eaLnBrk="0" fontAlgn="base" hangingPunct="0">
              <a:spcBef>
                <a:spcPct val="0"/>
              </a:spcBef>
              <a:spcAft>
                <a:spcPct val="0"/>
              </a:spcAft>
              <a:defRPr sz="8600">
                <a:solidFill>
                  <a:schemeClr val="tx1"/>
                </a:solidFill>
                <a:latin typeface="Arial" panose="020B0604020202020204" pitchFamily="34" charset="0"/>
              </a:defRPr>
            </a:lvl9pPr>
          </a:lstStyle>
          <a:p>
            <a:pPr>
              <a:lnSpc>
                <a:spcPct val="95000"/>
              </a:lnSpc>
            </a:pPr>
            <a:r>
              <a:rPr lang="en-US" altLang="en-US" sz="2700">
                <a:latin typeface="Arial"/>
                <a:cs typeface="Times New Roman"/>
              </a:rPr>
              <a:t>With a  good grasp of knowledge distillation and its variants, the same methods are then applied to the more complicated dataset MHIST to investigate cross dataset performance of proposed methods. Majority of the experiment setups are kept the same with addition of transfer learning process [3]. </a:t>
            </a:r>
            <a:endParaRPr lang="en-US" sz="2700">
              <a:latin typeface="Arial"/>
              <a:cs typeface="Times New Roman"/>
            </a:endParaRPr>
          </a:p>
          <a:p>
            <a:endParaRPr lang="en-US" altLang="en-US" sz="2000">
              <a:latin typeface="Times New Roman" panose="02020603050405020304" pitchFamily="18" charset="0"/>
              <a:cs typeface="Times New Roman" panose="02020603050405020304" pitchFamily="18" charset="0"/>
            </a:endParaRPr>
          </a:p>
        </p:txBody>
      </p:sp>
      <p:sp>
        <p:nvSpPr>
          <p:cNvPr id="29" name="Text Box 36">
            <a:extLst>
              <a:ext uri="{FF2B5EF4-FFF2-40B4-BE49-F238E27FC236}">
                <a16:creationId xmlns:a16="http://schemas.microsoft.com/office/drawing/2014/main" id="{EEB91AAC-A445-2900-F2AE-9C57B184E25B}"/>
              </a:ext>
            </a:extLst>
          </p:cNvPr>
          <p:cNvSpPr txBox="1">
            <a:spLocks noChangeArrowheads="1"/>
          </p:cNvSpPr>
          <p:nvPr/>
        </p:nvSpPr>
        <p:spPr bwMode="auto">
          <a:xfrm>
            <a:off x="11839274" y="29422363"/>
            <a:ext cx="9423400" cy="194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mpd="thinThick">
                <a:solidFill>
                  <a:srgbClr val="000000"/>
                </a:solidFill>
                <a:miter lim="800000"/>
                <a:headEnd/>
                <a:tailEnd/>
              </a14:hiddenLine>
            </a:ext>
          </a:extLst>
        </p:spPr>
        <p:txBody>
          <a:bodyPr wrap="square" lIns="61170" tIns="30584" rIns="61170" bIns="30584" anchor="t">
            <a:spAutoFit/>
          </a:bodyPr>
          <a:lstStyle>
            <a:lvl1pPr defTabSz="612775">
              <a:defRPr sz="8600">
                <a:solidFill>
                  <a:schemeClr val="tx1"/>
                </a:solidFill>
                <a:latin typeface="Arial" panose="020B0604020202020204" pitchFamily="34" charset="0"/>
              </a:defRPr>
            </a:lvl1pPr>
            <a:lvl2pPr marL="742950" indent="-285750" defTabSz="612775">
              <a:defRPr sz="8600">
                <a:solidFill>
                  <a:schemeClr val="tx1"/>
                </a:solidFill>
                <a:latin typeface="Arial" panose="020B0604020202020204" pitchFamily="34" charset="0"/>
              </a:defRPr>
            </a:lvl2pPr>
            <a:lvl3pPr marL="1143000" indent="-228600" defTabSz="612775">
              <a:defRPr sz="8600">
                <a:solidFill>
                  <a:schemeClr val="tx1"/>
                </a:solidFill>
                <a:latin typeface="Arial" panose="020B0604020202020204" pitchFamily="34" charset="0"/>
              </a:defRPr>
            </a:lvl3pPr>
            <a:lvl4pPr marL="1600200" indent="-228600" defTabSz="612775">
              <a:defRPr sz="8600">
                <a:solidFill>
                  <a:schemeClr val="tx1"/>
                </a:solidFill>
                <a:latin typeface="Arial" panose="020B0604020202020204" pitchFamily="34" charset="0"/>
              </a:defRPr>
            </a:lvl4pPr>
            <a:lvl5pPr marL="2057400" indent="-228600" defTabSz="612775">
              <a:defRPr sz="8600">
                <a:solidFill>
                  <a:schemeClr val="tx1"/>
                </a:solidFill>
                <a:latin typeface="Arial" panose="020B0604020202020204" pitchFamily="34" charset="0"/>
              </a:defRPr>
            </a:lvl5pPr>
            <a:lvl6pPr marL="2514600" indent="-228600" defTabSz="612775" eaLnBrk="0" fontAlgn="base" hangingPunct="0">
              <a:spcBef>
                <a:spcPct val="0"/>
              </a:spcBef>
              <a:spcAft>
                <a:spcPct val="0"/>
              </a:spcAft>
              <a:defRPr sz="8600">
                <a:solidFill>
                  <a:schemeClr val="tx1"/>
                </a:solidFill>
                <a:latin typeface="Arial" panose="020B0604020202020204" pitchFamily="34" charset="0"/>
              </a:defRPr>
            </a:lvl6pPr>
            <a:lvl7pPr marL="2971800" indent="-228600" defTabSz="612775" eaLnBrk="0" fontAlgn="base" hangingPunct="0">
              <a:spcBef>
                <a:spcPct val="0"/>
              </a:spcBef>
              <a:spcAft>
                <a:spcPct val="0"/>
              </a:spcAft>
              <a:defRPr sz="8600">
                <a:solidFill>
                  <a:schemeClr val="tx1"/>
                </a:solidFill>
                <a:latin typeface="Arial" panose="020B0604020202020204" pitchFamily="34" charset="0"/>
              </a:defRPr>
            </a:lvl7pPr>
            <a:lvl8pPr marL="3429000" indent="-228600" defTabSz="612775" eaLnBrk="0" fontAlgn="base" hangingPunct="0">
              <a:spcBef>
                <a:spcPct val="0"/>
              </a:spcBef>
              <a:spcAft>
                <a:spcPct val="0"/>
              </a:spcAft>
              <a:defRPr sz="8600">
                <a:solidFill>
                  <a:schemeClr val="tx1"/>
                </a:solidFill>
                <a:latin typeface="Arial" panose="020B0604020202020204" pitchFamily="34" charset="0"/>
              </a:defRPr>
            </a:lvl8pPr>
            <a:lvl9pPr marL="3886200" indent="-228600" defTabSz="612775" eaLnBrk="0" fontAlgn="base" hangingPunct="0">
              <a:spcBef>
                <a:spcPct val="0"/>
              </a:spcBef>
              <a:spcAft>
                <a:spcPct val="0"/>
              </a:spcAft>
              <a:defRPr sz="8600">
                <a:solidFill>
                  <a:schemeClr val="tx1"/>
                </a:solidFill>
                <a:latin typeface="Arial" panose="020B0604020202020204" pitchFamily="34" charset="0"/>
              </a:defRPr>
            </a:lvl9pPr>
          </a:lstStyle>
          <a:p>
            <a:pPr>
              <a:lnSpc>
                <a:spcPct val="95000"/>
              </a:lnSpc>
            </a:pPr>
            <a:r>
              <a:rPr lang="en-US" altLang="en-US" sz="2700">
                <a:latin typeface="Arial"/>
                <a:cs typeface="Times New Roman"/>
              </a:rPr>
              <a:t>The distillation hyper-parameters are investigated, and hand tuned again for this dataset and the test accuracy results from base KD and subclass KD are compared quantitatively against the student baseline and their teacher model. </a:t>
            </a:r>
          </a:p>
          <a:p>
            <a:endParaRPr lang="en-US" altLang="en-US" sz="2000">
              <a:latin typeface="Times New Roman" panose="02020603050405020304" pitchFamily="18" charset="0"/>
              <a:cs typeface="Times New Roman" panose="02020603050405020304" pitchFamily="18" charset="0"/>
            </a:endParaRPr>
          </a:p>
        </p:txBody>
      </p:sp>
      <p:pic>
        <p:nvPicPr>
          <p:cNvPr id="31" name="Picture 31" descr="Text&#10;&#10;Description automatically generated">
            <a:extLst>
              <a:ext uri="{FF2B5EF4-FFF2-40B4-BE49-F238E27FC236}">
                <a16:creationId xmlns:a16="http://schemas.microsoft.com/office/drawing/2014/main" id="{33F9BE8E-8007-54A5-E57B-8D83D04A8FDA}"/>
              </a:ext>
            </a:extLst>
          </p:cNvPr>
          <p:cNvPicPr>
            <a:picLocks noChangeAspect="1"/>
          </p:cNvPicPr>
          <p:nvPr/>
        </p:nvPicPr>
        <p:blipFill>
          <a:blip r:embed="rId18"/>
          <a:stretch>
            <a:fillRect/>
          </a:stretch>
        </p:blipFill>
        <p:spPr>
          <a:xfrm>
            <a:off x="1199071" y="23102727"/>
            <a:ext cx="8712677" cy="1170818"/>
          </a:xfrm>
          <a:prstGeom prst="rect">
            <a:avLst/>
          </a:prstGeom>
        </p:spPr>
      </p:pic>
      <p:sp>
        <p:nvSpPr>
          <p:cNvPr id="32" name="TextBox 31">
            <a:extLst>
              <a:ext uri="{FF2B5EF4-FFF2-40B4-BE49-F238E27FC236}">
                <a16:creationId xmlns:a16="http://schemas.microsoft.com/office/drawing/2014/main" id="{0CCAEC79-0CBA-E866-95A6-23A6F95FB08A}"/>
              </a:ext>
            </a:extLst>
          </p:cNvPr>
          <p:cNvSpPr txBox="1"/>
          <p:nvPr/>
        </p:nvSpPr>
        <p:spPr>
          <a:xfrm>
            <a:off x="1113598" y="27105929"/>
            <a:ext cx="9096386"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a:latin typeface="Arial"/>
                <a:cs typeface="Arial"/>
              </a:rPr>
              <a:t>MNIST dataset provides grey scale representations of numbers in different classes, while MHIST dataset includes complicated and unbalanced histological pattern of images with higher resolution at 224x224 pixels. The patterns are hard to differentiate and locate to annotate between the following 2 classes.</a:t>
            </a:r>
          </a:p>
          <a:p>
            <a:endParaRPr lang="en-US" sz="2700">
              <a:cs typeface="Arial"/>
            </a:endParaRPr>
          </a:p>
          <a:p>
            <a:pPr marL="514350" indent="-514350">
              <a:buAutoNum type="arabicPeriod"/>
            </a:pPr>
            <a:r>
              <a:rPr lang="en-US" sz="2700">
                <a:latin typeface="Arial"/>
                <a:cs typeface="Arial"/>
              </a:rPr>
              <a:t>Hyperplastic Polyp (HP)</a:t>
            </a:r>
          </a:p>
          <a:p>
            <a:endParaRPr lang="en-US" sz="2700">
              <a:latin typeface="Arial"/>
              <a:cs typeface="Arial"/>
            </a:endParaRPr>
          </a:p>
          <a:p>
            <a:r>
              <a:rPr lang="en-US" sz="2700">
                <a:latin typeface="Arial"/>
                <a:cs typeface="Arial"/>
              </a:rPr>
              <a:t>2.  Sessile Serrated Adenoma (SSA)</a:t>
            </a:r>
          </a:p>
          <a:p>
            <a:pPr marL="514350" indent="-514350">
              <a:buFontTx/>
              <a:buAutoNum type="arabicPeriod"/>
            </a:pPr>
            <a:endParaRPr lang="en-US" sz="2700">
              <a:cs typeface="Arial"/>
            </a:endParaRPr>
          </a:p>
          <a:p>
            <a:pPr marL="514350" indent="-514350">
              <a:buFontTx/>
              <a:buAutoNum type="arabicPeriod"/>
            </a:pPr>
            <a:endParaRPr lang="en-US" sz="2700">
              <a:cs typeface="Arial"/>
            </a:endParaRPr>
          </a:p>
        </p:txBody>
      </p:sp>
      <p:sp>
        <p:nvSpPr>
          <p:cNvPr id="18" name="TextBox 17">
            <a:extLst>
              <a:ext uri="{FF2B5EF4-FFF2-40B4-BE49-F238E27FC236}">
                <a16:creationId xmlns:a16="http://schemas.microsoft.com/office/drawing/2014/main" id="{32968644-C18D-B9BA-282D-4566E466F3F6}"/>
              </a:ext>
            </a:extLst>
          </p:cNvPr>
          <p:cNvSpPr txBox="1"/>
          <p:nvPr/>
        </p:nvSpPr>
        <p:spPr>
          <a:xfrm>
            <a:off x="22478424" y="10580538"/>
            <a:ext cx="9815983" cy="21698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a:latin typeface="Arial"/>
                <a:cs typeface="Times New Roman"/>
              </a:rPr>
              <a:t>Student with KD achieves 0.74% higher accuracy than the one without KD. </a:t>
            </a:r>
            <a:r>
              <a:rPr lang="en-US" sz="2700">
                <a:latin typeface="Arial"/>
                <a:cs typeface="Arial"/>
              </a:rPr>
              <a:t>The introduction of subclasses increased both the teacher and student accuracy. The student with subclass KD has a higher accuracy jump of 0.08 percent from conventional KD.</a:t>
            </a:r>
            <a:endParaRPr lang="en-US"/>
          </a:p>
        </p:txBody>
      </p:sp>
      <p:pic>
        <p:nvPicPr>
          <p:cNvPr id="20" name="Picture 20" descr="Table&#10;&#10;Description automatically generated">
            <a:extLst>
              <a:ext uri="{FF2B5EF4-FFF2-40B4-BE49-F238E27FC236}">
                <a16:creationId xmlns:a16="http://schemas.microsoft.com/office/drawing/2014/main" id="{DEDE9A45-CE7A-8B88-7B23-F5BE8303E2CB}"/>
              </a:ext>
            </a:extLst>
          </p:cNvPr>
          <p:cNvPicPr>
            <a:picLocks noChangeAspect="1"/>
          </p:cNvPicPr>
          <p:nvPr/>
        </p:nvPicPr>
        <p:blipFill rotWithShape="1">
          <a:blip r:embed="rId19"/>
          <a:srcRect t="26852" r="-214" b="1310"/>
          <a:stretch/>
        </p:blipFill>
        <p:spPr>
          <a:xfrm>
            <a:off x="23055342" y="15486874"/>
            <a:ext cx="8079773" cy="1336739"/>
          </a:xfrm>
          <a:prstGeom prst="rect">
            <a:avLst/>
          </a:prstGeom>
        </p:spPr>
      </p:pic>
      <p:sp>
        <p:nvSpPr>
          <p:cNvPr id="21" name="TextBox 20">
            <a:extLst>
              <a:ext uri="{FF2B5EF4-FFF2-40B4-BE49-F238E27FC236}">
                <a16:creationId xmlns:a16="http://schemas.microsoft.com/office/drawing/2014/main" id="{B344BAEF-EA99-C3EA-B689-892470963502}"/>
              </a:ext>
            </a:extLst>
          </p:cNvPr>
          <p:cNvSpPr txBox="1"/>
          <p:nvPr/>
        </p:nvSpPr>
        <p:spPr>
          <a:xfrm>
            <a:off x="22474482" y="16825974"/>
            <a:ext cx="9712466" cy="21698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a:latin typeface="Arial"/>
                <a:cs typeface="Times New Roman"/>
              </a:rPr>
              <a:t>The student model's lower FLOPs than the teacher's model indicates that it needs lower computing power and faster training and inference time compared to the teacher's model. The student model with KD achieved comparable accuracy results as the teacher with only 10 percent of FLOPs.</a:t>
            </a:r>
          </a:p>
        </p:txBody>
      </p:sp>
      <p:cxnSp>
        <p:nvCxnSpPr>
          <p:cNvPr id="30" name="Straight Arrow Connector 29">
            <a:extLst>
              <a:ext uri="{FF2B5EF4-FFF2-40B4-BE49-F238E27FC236}">
                <a16:creationId xmlns:a16="http://schemas.microsoft.com/office/drawing/2014/main" id="{22FB841C-1DFF-120F-A3FF-3407DE270E52}"/>
              </a:ext>
            </a:extLst>
          </p:cNvPr>
          <p:cNvCxnSpPr>
            <a:cxnSpLocks/>
          </p:cNvCxnSpPr>
          <p:nvPr/>
        </p:nvCxnSpPr>
        <p:spPr bwMode="auto">
          <a:xfrm>
            <a:off x="22592584" y="19176521"/>
            <a:ext cx="9230264" cy="2"/>
          </a:xfrm>
          <a:prstGeom prst="straightConnector1">
            <a:avLst/>
          </a:prstGeom>
          <a:solidFill>
            <a:schemeClr val="bg1"/>
          </a:solidFill>
          <a:ln w="28575" cap="flat" cmpd="sng" algn="ctr">
            <a:solidFill>
              <a:schemeClr val="bg2"/>
            </a:solidFill>
            <a:prstDash val="dash"/>
            <a:round/>
            <a:headEnd type="none" w="med" len="med"/>
            <a:tailEnd type="none" w="med" len="med"/>
          </a:ln>
          <a:effectLst/>
        </p:spPr>
      </p:cxnSp>
      <p:sp>
        <p:nvSpPr>
          <p:cNvPr id="33" name="TextBox 32">
            <a:extLst>
              <a:ext uri="{FF2B5EF4-FFF2-40B4-BE49-F238E27FC236}">
                <a16:creationId xmlns:a16="http://schemas.microsoft.com/office/drawing/2014/main" id="{5EF8E066-67A0-571B-7E3F-1D0A8ED62F6C}"/>
              </a:ext>
            </a:extLst>
          </p:cNvPr>
          <p:cNvSpPr txBox="1"/>
          <p:nvPr/>
        </p:nvSpPr>
        <p:spPr>
          <a:xfrm>
            <a:off x="22595251" y="23692599"/>
            <a:ext cx="9850489" cy="13560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a:latin typeface="Arial"/>
                <a:cs typeface="Arial"/>
              </a:rPr>
              <a:t>The ResNet50v2 model has 10 times the number of parameters as Mobilenetv2. Teacher model's FLOPs is higher than the student’s FLOPs. Model compression is achieved.</a:t>
            </a:r>
            <a:endParaRPr lang="en-US">
              <a:cs typeface="Arial"/>
            </a:endParaRPr>
          </a:p>
        </p:txBody>
      </p:sp>
      <p:pic>
        <p:nvPicPr>
          <p:cNvPr id="34" name="Picture 34" descr="Table&#10;&#10;Description automatically generated">
            <a:extLst>
              <a:ext uri="{FF2B5EF4-FFF2-40B4-BE49-F238E27FC236}">
                <a16:creationId xmlns:a16="http://schemas.microsoft.com/office/drawing/2014/main" id="{5B6C68D2-55AA-5B99-50E3-4053B40E779C}"/>
              </a:ext>
            </a:extLst>
          </p:cNvPr>
          <p:cNvPicPr>
            <a:picLocks noChangeAspect="1"/>
          </p:cNvPicPr>
          <p:nvPr/>
        </p:nvPicPr>
        <p:blipFill rotWithShape="1">
          <a:blip r:embed="rId20"/>
          <a:srcRect t="26415" b="173"/>
          <a:stretch/>
        </p:blipFill>
        <p:spPr>
          <a:xfrm>
            <a:off x="23248189" y="22195809"/>
            <a:ext cx="7815532" cy="1342494"/>
          </a:xfrm>
          <a:prstGeom prst="rect">
            <a:avLst/>
          </a:prstGeom>
        </p:spPr>
      </p:pic>
      <p:sp>
        <p:nvSpPr>
          <p:cNvPr id="35" name="TextBox 34">
            <a:extLst>
              <a:ext uri="{FF2B5EF4-FFF2-40B4-BE49-F238E27FC236}">
                <a16:creationId xmlns:a16="http://schemas.microsoft.com/office/drawing/2014/main" id="{61F81E90-BE91-7F73-2EA6-44AFD9EB9154}"/>
              </a:ext>
            </a:extLst>
          </p:cNvPr>
          <p:cNvSpPr txBox="1"/>
          <p:nvPr/>
        </p:nvSpPr>
        <p:spPr>
          <a:xfrm>
            <a:off x="28548460" y="12411716"/>
            <a:ext cx="3609306"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a:latin typeface="Arial"/>
                <a:cs typeface="Times New Roman"/>
              </a:rPr>
              <a:t>Final distillation hyperparameters values used: the task balance is 0.3 and the temperature is 16. </a:t>
            </a:r>
          </a:p>
        </p:txBody>
      </p:sp>
      <p:sp>
        <p:nvSpPr>
          <p:cNvPr id="2" name="TextBox 1">
            <a:extLst>
              <a:ext uri="{FF2B5EF4-FFF2-40B4-BE49-F238E27FC236}">
                <a16:creationId xmlns:a16="http://schemas.microsoft.com/office/drawing/2014/main" id="{293FAB9D-38ED-018C-F0C6-B0AFC59FCB9A}"/>
              </a:ext>
            </a:extLst>
          </p:cNvPr>
          <p:cNvSpPr txBox="1"/>
          <p:nvPr/>
        </p:nvSpPr>
        <p:spPr>
          <a:xfrm>
            <a:off x="28393184" y="19174825"/>
            <a:ext cx="3609306"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a:latin typeface="Arial"/>
                <a:cs typeface="Times New Roman"/>
              </a:rPr>
              <a:t>Final distillation hyperparameters values used: the task balance is 0.3 and the temperature is 1. </a:t>
            </a:r>
          </a:p>
        </p:txBody>
      </p:sp>
      <p:sp>
        <p:nvSpPr>
          <p:cNvPr id="3" name="TextBox 2">
            <a:extLst>
              <a:ext uri="{FF2B5EF4-FFF2-40B4-BE49-F238E27FC236}">
                <a16:creationId xmlns:a16="http://schemas.microsoft.com/office/drawing/2014/main" id="{92655302-2C17-FE8E-FA38-6A2763F250A7}"/>
              </a:ext>
            </a:extLst>
          </p:cNvPr>
          <p:cNvSpPr txBox="1"/>
          <p:nvPr/>
        </p:nvSpPr>
        <p:spPr>
          <a:xfrm>
            <a:off x="22595251" y="30231421"/>
            <a:ext cx="985048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a:latin typeface="Arial"/>
                <a:cs typeface="Arial"/>
              </a:rPr>
              <a:t>In general, transfer learning and knowledge distillation both helped to improve the performance of the student model. </a:t>
            </a:r>
            <a:endParaRPr lang="en-US"/>
          </a:p>
        </p:txBody>
      </p:sp>
      <p:sp>
        <p:nvSpPr>
          <p:cNvPr id="4" name="TextBox 3">
            <a:extLst>
              <a:ext uri="{FF2B5EF4-FFF2-40B4-BE49-F238E27FC236}">
                <a16:creationId xmlns:a16="http://schemas.microsoft.com/office/drawing/2014/main" id="{FAF3A6B7-97D3-B6FB-7EEE-9687E1CEAC36}"/>
              </a:ext>
            </a:extLst>
          </p:cNvPr>
          <p:cNvSpPr txBox="1"/>
          <p:nvPr/>
        </p:nvSpPr>
        <p:spPr>
          <a:xfrm>
            <a:off x="3387717" y="15806708"/>
            <a:ext cx="451143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Arial"/>
                <a:cs typeface="Arial"/>
              </a:rPr>
              <a:t>Figure 1</a:t>
            </a:r>
            <a:r>
              <a:rPr lang="en-US" sz="1600">
                <a:latin typeface="Arial"/>
                <a:cs typeface="Arial"/>
              </a:rPr>
              <a:t>: Knowledge distillation architecture</a:t>
            </a:r>
            <a:endParaRPr lang="en-US" sz="1600"/>
          </a:p>
        </p:txBody>
      </p:sp>
      <p:sp>
        <p:nvSpPr>
          <p:cNvPr id="9" name="TextBox 8">
            <a:extLst>
              <a:ext uri="{FF2B5EF4-FFF2-40B4-BE49-F238E27FC236}">
                <a16:creationId xmlns:a16="http://schemas.microsoft.com/office/drawing/2014/main" id="{AE3BF095-E560-7901-2ACB-4030F7EF3519}"/>
              </a:ext>
            </a:extLst>
          </p:cNvPr>
          <p:cNvSpPr txBox="1"/>
          <p:nvPr/>
        </p:nvSpPr>
        <p:spPr>
          <a:xfrm>
            <a:off x="3767279" y="26486210"/>
            <a:ext cx="356253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Arial"/>
                <a:cs typeface="Arial"/>
              </a:rPr>
              <a:t>Figure 2</a:t>
            </a:r>
            <a:r>
              <a:rPr lang="en-US" sz="1600">
                <a:latin typeface="Arial"/>
                <a:cs typeface="Arial"/>
              </a:rPr>
              <a:t>: MNIST and MHIST dataset</a:t>
            </a:r>
            <a:endParaRPr lang="en-US" sz="1600"/>
          </a:p>
        </p:txBody>
      </p:sp>
      <p:sp>
        <p:nvSpPr>
          <p:cNvPr id="12" name="TextBox 11">
            <a:extLst>
              <a:ext uri="{FF2B5EF4-FFF2-40B4-BE49-F238E27FC236}">
                <a16:creationId xmlns:a16="http://schemas.microsoft.com/office/drawing/2014/main" id="{4E818C89-9463-400A-A17A-C1E109B0D7D6}"/>
              </a:ext>
            </a:extLst>
          </p:cNvPr>
          <p:cNvSpPr txBox="1"/>
          <p:nvPr/>
        </p:nvSpPr>
        <p:spPr>
          <a:xfrm>
            <a:off x="13877437" y="10596354"/>
            <a:ext cx="533957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Arial"/>
                <a:cs typeface="Arial"/>
              </a:rPr>
              <a:t>Table 1</a:t>
            </a:r>
            <a:r>
              <a:rPr lang="en-US" sz="1600">
                <a:latin typeface="Arial"/>
                <a:cs typeface="Arial"/>
              </a:rPr>
              <a:t>: Teacher and student model FLOPs comparison</a:t>
            </a:r>
            <a:endParaRPr lang="en-US" sz="1600"/>
          </a:p>
        </p:txBody>
      </p:sp>
      <p:sp>
        <p:nvSpPr>
          <p:cNvPr id="23" name="TextBox 22">
            <a:extLst>
              <a:ext uri="{FF2B5EF4-FFF2-40B4-BE49-F238E27FC236}">
                <a16:creationId xmlns:a16="http://schemas.microsoft.com/office/drawing/2014/main" id="{C265FDB1-A07F-8403-5650-A7FEBBACCB16}"/>
              </a:ext>
            </a:extLst>
          </p:cNvPr>
          <p:cNvSpPr txBox="1"/>
          <p:nvPr/>
        </p:nvSpPr>
        <p:spPr>
          <a:xfrm>
            <a:off x="16223822" y="21758934"/>
            <a:ext cx="404560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Arial"/>
                <a:cs typeface="Arial"/>
              </a:rPr>
              <a:t>Figure 3</a:t>
            </a:r>
            <a:r>
              <a:rPr lang="en-US" sz="1600">
                <a:latin typeface="Arial"/>
                <a:cs typeface="Arial"/>
              </a:rPr>
              <a:t>: Subclass predictions and logits</a:t>
            </a:r>
            <a:endParaRPr lang="en-US" sz="1600"/>
          </a:p>
        </p:txBody>
      </p:sp>
      <p:sp>
        <p:nvSpPr>
          <p:cNvPr id="36" name="TextBox 35">
            <a:extLst>
              <a:ext uri="{FF2B5EF4-FFF2-40B4-BE49-F238E27FC236}">
                <a16:creationId xmlns:a16="http://schemas.microsoft.com/office/drawing/2014/main" id="{9657F830-4E68-7DF8-B7A6-50A83D1AB979}"/>
              </a:ext>
            </a:extLst>
          </p:cNvPr>
          <p:cNvSpPr txBox="1"/>
          <p:nvPr/>
        </p:nvSpPr>
        <p:spPr>
          <a:xfrm>
            <a:off x="14446780" y="28660065"/>
            <a:ext cx="404560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Arial"/>
                <a:cs typeface="Arial"/>
              </a:rPr>
              <a:t>Figure 4</a:t>
            </a:r>
            <a:r>
              <a:rPr lang="en-US" sz="1600">
                <a:latin typeface="Arial"/>
                <a:cs typeface="Arial"/>
              </a:rPr>
              <a:t>: Transfer learning on MHIST data</a:t>
            </a:r>
            <a:endParaRPr lang="en-US" sz="1600"/>
          </a:p>
        </p:txBody>
      </p:sp>
      <p:sp>
        <p:nvSpPr>
          <p:cNvPr id="37" name="TextBox 36">
            <a:extLst>
              <a:ext uri="{FF2B5EF4-FFF2-40B4-BE49-F238E27FC236}">
                <a16:creationId xmlns:a16="http://schemas.microsoft.com/office/drawing/2014/main" id="{4276D7E2-AD56-E40D-B096-7F04CE3456D4}"/>
              </a:ext>
            </a:extLst>
          </p:cNvPr>
          <p:cNvSpPr txBox="1"/>
          <p:nvPr/>
        </p:nvSpPr>
        <p:spPr>
          <a:xfrm>
            <a:off x="23970342" y="8008426"/>
            <a:ext cx="742716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Arial"/>
                <a:cs typeface="Arial"/>
              </a:rPr>
              <a:t>Table 2</a:t>
            </a:r>
            <a:r>
              <a:rPr lang="en-US" sz="1600">
                <a:latin typeface="Arial"/>
                <a:cs typeface="Arial"/>
              </a:rPr>
              <a:t>: Test accuracy between models with and without Subclass KD</a:t>
            </a:r>
            <a:endParaRPr lang="en-US" sz="1600"/>
          </a:p>
        </p:txBody>
      </p:sp>
      <p:sp>
        <p:nvSpPr>
          <p:cNvPr id="38" name="TextBox 37">
            <a:extLst>
              <a:ext uri="{FF2B5EF4-FFF2-40B4-BE49-F238E27FC236}">
                <a16:creationId xmlns:a16="http://schemas.microsoft.com/office/drawing/2014/main" id="{09270829-4642-46CD-66E4-CB8E9A23C4FB}"/>
              </a:ext>
            </a:extLst>
          </p:cNvPr>
          <p:cNvSpPr txBox="1"/>
          <p:nvPr/>
        </p:nvSpPr>
        <p:spPr>
          <a:xfrm>
            <a:off x="24056605" y="15185602"/>
            <a:ext cx="606418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Arial"/>
                <a:cs typeface="Arial"/>
              </a:rPr>
              <a:t>Table 3</a:t>
            </a:r>
            <a:r>
              <a:rPr lang="en-US" sz="1600">
                <a:latin typeface="Arial"/>
                <a:cs typeface="Arial"/>
              </a:rPr>
              <a:t>: Model complexity between teacher and student MNIST</a:t>
            </a:r>
            <a:endParaRPr lang="en-US" sz="1600"/>
          </a:p>
        </p:txBody>
      </p:sp>
      <p:sp>
        <p:nvSpPr>
          <p:cNvPr id="39" name="TextBox 38">
            <a:extLst>
              <a:ext uri="{FF2B5EF4-FFF2-40B4-BE49-F238E27FC236}">
                <a16:creationId xmlns:a16="http://schemas.microsoft.com/office/drawing/2014/main" id="{F081C44B-ADE2-8A95-E1A0-E1B5CCCA2B01}"/>
              </a:ext>
            </a:extLst>
          </p:cNvPr>
          <p:cNvSpPr txBox="1"/>
          <p:nvPr/>
        </p:nvSpPr>
        <p:spPr>
          <a:xfrm>
            <a:off x="24056604" y="21810688"/>
            <a:ext cx="6184958"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Arial"/>
                <a:cs typeface="Arial"/>
              </a:rPr>
              <a:t>Table 4</a:t>
            </a:r>
            <a:r>
              <a:rPr lang="en-US" sz="1600">
                <a:latin typeface="Arial"/>
                <a:cs typeface="Arial"/>
              </a:rPr>
              <a:t>: Model complexity between teacher and student MHIST</a:t>
            </a:r>
            <a:endParaRPr lang="en-US" sz="1600">
              <a:cs typeface="Arial"/>
            </a:endParaRPr>
          </a:p>
        </p:txBody>
      </p:sp>
      <p:sp>
        <p:nvSpPr>
          <p:cNvPr id="40" name="TextBox 39">
            <a:extLst>
              <a:ext uri="{FF2B5EF4-FFF2-40B4-BE49-F238E27FC236}">
                <a16:creationId xmlns:a16="http://schemas.microsoft.com/office/drawing/2014/main" id="{107A9B6C-CFE2-F475-43C6-2902AB6892F8}"/>
              </a:ext>
            </a:extLst>
          </p:cNvPr>
          <p:cNvSpPr txBox="1"/>
          <p:nvPr/>
        </p:nvSpPr>
        <p:spPr>
          <a:xfrm>
            <a:off x="23004182" y="25209494"/>
            <a:ext cx="828980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Arial"/>
                <a:cs typeface="Arial"/>
              </a:rPr>
              <a:t>Table 5</a:t>
            </a:r>
            <a:r>
              <a:rPr lang="en-US" sz="1600">
                <a:latin typeface="Arial"/>
                <a:cs typeface="Arial"/>
              </a:rPr>
              <a:t>: Test AUC between models with and without Subclass KD and transfer learning</a:t>
            </a:r>
            <a:endParaRPr lang="en-US" sz="1600">
              <a:cs typeface="Arial"/>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Default Design</vt:lpstr>
      <vt:lpstr>PowerPoint Presentation</vt:lpstr>
    </vt:vector>
  </TitlesOfParts>
  <Company>MegaPrint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Tri-Fold Template</dc:title>
  <dc:creator>Ethan Shulda</dc:creator>
  <dc:description>©MegaPrint Inc. 2009</dc:description>
  <cp:revision>321</cp:revision>
  <dcterms:created xsi:type="dcterms:W3CDTF">2008-12-04T00:20:37Z</dcterms:created>
  <dcterms:modified xsi:type="dcterms:W3CDTF">2022-12-14T18:58:24Z</dcterms:modified>
  <cp:category>Research Poster</cp:category>
</cp:coreProperties>
</file>